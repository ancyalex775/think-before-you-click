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8288000" cy="10287000"/>
  <p:notesSz cx="6858000" cy="9144000"/>
  <p:embeddedFontLst>
    <p:embeddedFont>
      <p:font typeface="Roboto Bold" charset="1" panose="02000000000000000000"/>
      <p:regular r:id="rId10"/>
    </p:embeddedFont>
    <p:embeddedFont>
      <p:font typeface="Roboto Condensed Bold" charset="1" panose="02000000000000000000"/>
      <p:regular r:id="rId11"/>
    </p:embeddedFont>
    <p:embeddedFont>
      <p:font typeface="Roboto Condensed" charset="1" panose="02000000000000000000"/>
      <p:regular r:id="rId12"/>
    </p:embeddedFont>
    <p:embeddedFont>
      <p:font typeface="Roboto" charset="1" panose="0200000000000000000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14" Target="../media/image13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11" Target="../media/image23.png" Type="http://schemas.openxmlformats.org/officeDocument/2006/relationships/image"/><Relationship Id="rId12" Target="../media/image24.png" Type="http://schemas.openxmlformats.org/officeDocument/2006/relationships/image"/><Relationship Id="rId13" Target="../media/image25.png" Type="http://schemas.openxmlformats.org/officeDocument/2006/relationships/image"/><Relationship Id="rId14" Target="../media/image26.png" Type="http://schemas.openxmlformats.org/officeDocument/2006/relationships/image"/><Relationship Id="rId15" Target="../media/image27.png" Type="http://schemas.openxmlformats.org/officeDocument/2006/relationships/image"/><Relationship Id="rId16" Target="../media/image28.png" Type="http://schemas.openxmlformats.org/officeDocument/2006/relationships/image"/><Relationship Id="rId17" Target="../media/image29.png" Type="http://schemas.openxmlformats.org/officeDocument/2006/relationships/image"/><Relationship Id="rId18" Target="../media/image30.png" Type="http://schemas.openxmlformats.org/officeDocument/2006/relationships/image"/><Relationship Id="rId2" Target="../media/image14.png" Type="http://schemas.openxmlformats.org/officeDocument/2006/relationships/image"/><Relationship Id="rId3" Target="../media/image15.pn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Relationship Id="rId6" Target="../media/image18.png" Type="http://schemas.openxmlformats.org/officeDocument/2006/relationships/image"/><Relationship Id="rId7" Target="../media/image19.png" Type="http://schemas.openxmlformats.org/officeDocument/2006/relationships/image"/><Relationship Id="rId8" Target="../media/image20.png" Type="http://schemas.openxmlformats.org/officeDocument/2006/relationships/image"/><Relationship Id="rId9" Target="../media/image2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9.png" Type="http://schemas.openxmlformats.org/officeDocument/2006/relationships/image"/><Relationship Id="rId11" Target="../media/image40.png" Type="http://schemas.openxmlformats.org/officeDocument/2006/relationships/image"/><Relationship Id="rId12" Target="../media/image41.png" Type="http://schemas.openxmlformats.org/officeDocument/2006/relationships/image"/><Relationship Id="rId13" Target="../media/image42.png" Type="http://schemas.openxmlformats.org/officeDocument/2006/relationships/image"/><Relationship Id="rId14" Target="../media/image43.png" Type="http://schemas.openxmlformats.org/officeDocument/2006/relationships/image"/><Relationship Id="rId15" Target="../media/image44.png" Type="http://schemas.openxmlformats.org/officeDocument/2006/relationships/image"/><Relationship Id="rId16" Target="../media/image45.png" Type="http://schemas.openxmlformats.org/officeDocument/2006/relationships/image"/><Relationship Id="rId17" Target="../media/image46.png" Type="http://schemas.openxmlformats.org/officeDocument/2006/relationships/image"/><Relationship Id="rId18" Target="../media/image47.png" Type="http://schemas.openxmlformats.org/officeDocument/2006/relationships/image"/><Relationship Id="rId19" Target="../media/image48.png" Type="http://schemas.openxmlformats.org/officeDocument/2006/relationships/image"/><Relationship Id="rId2" Target="../media/image31.png" Type="http://schemas.openxmlformats.org/officeDocument/2006/relationships/image"/><Relationship Id="rId20" Target="../media/image49.png" Type="http://schemas.openxmlformats.org/officeDocument/2006/relationships/image"/><Relationship Id="rId21" Target="../media/image50.png" Type="http://schemas.openxmlformats.org/officeDocument/2006/relationships/image"/><Relationship Id="rId22" Target="../media/image51.png" Type="http://schemas.openxmlformats.org/officeDocument/2006/relationships/image"/><Relationship Id="rId23" Target="../media/image52.png" Type="http://schemas.openxmlformats.org/officeDocument/2006/relationships/image"/><Relationship Id="rId24" Target="../media/image53.png" Type="http://schemas.openxmlformats.org/officeDocument/2006/relationships/image"/><Relationship Id="rId25" Target="../media/image54.png" Type="http://schemas.openxmlformats.org/officeDocument/2006/relationships/image"/><Relationship Id="rId26" Target="../media/image55.png" Type="http://schemas.openxmlformats.org/officeDocument/2006/relationships/image"/><Relationship Id="rId3" Target="../media/image32.png" Type="http://schemas.openxmlformats.org/officeDocument/2006/relationships/image"/><Relationship Id="rId4" Target="../media/image33.png" Type="http://schemas.openxmlformats.org/officeDocument/2006/relationships/image"/><Relationship Id="rId5" Target="../media/image34.png" Type="http://schemas.openxmlformats.org/officeDocument/2006/relationships/image"/><Relationship Id="rId6" Target="../media/image35.png" Type="http://schemas.openxmlformats.org/officeDocument/2006/relationships/image"/><Relationship Id="rId7" Target="../media/image36.png" Type="http://schemas.openxmlformats.org/officeDocument/2006/relationships/image"/><Relationship Id="rId8" Target="../media/image37.png" Type="http://schemas.openxmlformats.org/officeDocument/2006/relationships/image"/><Relationship Id="rId9" Target="../media/image3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4.png" Type="http://schemas.openxmlformats.org/officeDocument/2006/relationships/image"/><Relationship Id="rId11" Target="../media/image65.png" Type="http://schemas.openxmlformats.org/officeDocument/2006/relationships/image"/><Relationship Id="rId12" Target="../media/image66.png" Type="http://schemas.openxmlformats.org/officeDocument/2006/relationships/image"/><Relationship Id="rId13" Target="../media/image67.png" Type="http://schemas.openxmlformats.org/officeDocument/2006/relationships/image"/><Relationship Id="rId14" Target="../media/image68.png" Type="http://schemas.openxmlformats.org/officeDocument/2006/relationships/image"/><Relationship Id="rId15" Target="../media/image69.png" Type="http://schemas.openxmlformats.org/officeDocument/2006/relationships/image"/><Relationship Id="rId16" Target="../media/image70.png" Type="http://schemas.openxmlformats.org/officeDocument/2006/relationships/image"/><Relationship Id="rId17" Target="../media/image71.png" Type="http://schemas.openxmlformats.org/officeDocument/2006/relationships/image"/><Relationship Id="rId18" Target="../media/image72.png" Type="http://schemas.openxmlformats.org/officeDocument/2006/relationships/image"/><Relationship Id="rId19" Target="../media/image73.png" Type="http://schemas.openxmlformats.org/officeDocument/2006/relationships/image"/><Relationship Id="rId2" Target="../media/image56.png" Type="http://schemas.openxmlformats.org/officeDocument/2006/relationships/image"/><Relationship Id="rId20" Target="../media/image74.png" Type="http://schemas.openxmlformats.org/officeDocument/2006/relationships/image"/><Relationship Id="rId21" Target="../media/image75.png" Type="http://schemas.openxmlformats.org/officeDocument/2006/relationships/image"/><Relationship Id="rId22" Target="../media/image76.png" Type="http://schemas.openxmlformats.org/officeDocument/2006/relationships/image"/><Relationship Id="rId23" Target="../media/image77.png" Type="http://schemas.openxmlformats.org/officeDocument/2006/relationships/image"/><Relationship Id="rId24" Target="../media/image78.png" Type="http://schemas.openxmlformats.org/officeDocument/2006/relationships/image"/><Relationship Id="rId25" Target="../media/image79.png" Type="http://schemas.openxmlformats.org/officeDocument/2006/relationships/image"/><Relationship Id="rId26" Target="../media/image80.png" Type="http://schemas.openxmlformats.org/officeDocument/2006/relationships/image"/><Relationship Id="rId3" Target="../media/image57.png" Type="http://schemas.openxmlformats.org/officeDocument/2006/relationships/image"/><Relationship Id="rId4" Target="../media/image58.png" Type="http://schemas.openxmlformats.org/officeDocument/2006/relationships/image"/><Relationship Id="rId5" Target="../media/image59.png" Type="http://schemas.openxmlformats.org/officeDocument/2006/relationships/image"/><Relationship Id="rId6" Target="../media/image60.png" Type="http://schemas.openxmlformats.org/officeDocument/2006/relationships/image"/><Relationship Id="rId7" Target="../media/image61.png" Type="http://schemas.openxmlformats.org/officeDocument/2006/relationships/image"/><Relationship Id="rId8" Target="../media/image62.png" Type="http://schemas.openxmlformats.org/officeDocument/2006/relationships/image"/><Relationship Id="rId9" Target="../media/image6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175196" y="426348"/>
            <a:ext cx="11112804" cy="9860652"/>
          </a:xfrm>
          <a:custGeom>
            <a:avLst/>
            <a:gdLst/>
            <a:ahLst/>
            <a:cxnLst/>
            <a:rect r="r" b="b" t="t" l="l"/>
            <a:pathLst>
              <a:path h="9860652" w="11112804">
                <a:moveTo>
                  <a:pt x="0" y="0"/>
                </a:moveTo>
                <a:lnTo>
                  <a:pt x="11112804" y="0"/>
                </a:lnTo>
                <a:lnTo>
                  <a:pt x="11112804" y="9860652"/>
                </a:lnTo>
                <a:lnTo>
                  <a:pt x="0" y="98606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30582" y="1101975"/>
            <a:ext cx="4630059" cy="1627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298"/>
              </a:lnSpc>
            </a:pPr>
            <a:r>
              <a:rPr lang="en-US" sz="12298" b="true">
                <a:solidFill>
                  <a:srgbClr val="F8F8F8"/>
                </a:solidFill>
                <a:latin typeface="Roboto Bold"/>
                <a:ea typeface="Roboto Bold"/>
                <a:cs typeface="Roboto Bold"/>
                <a:sym typeface="Roboto Bold"/>
              </a:rPr>
              <a:t>THINK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15002" y="2676526"/>
            <a:ext cx="6188067" cy="1080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01"/>
              </a:lnSpc>
            </a:pPr>
            <a:r>
              <a:rPr lang="en-US" sz="8101" b="true">
                <a:solidFill>
                  <a:srgbClr val="F8F8F8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BEFORE YOU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24355" y="3696990"/>
            <a:ext cx="5252740" cy="2203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33"/>
              </a:lnSpc>
            </a:pPr>
            <a:r>
              <a:rPr lang="en-US" sz="16533" b="true">
                <a:solidFill>
                  <a:srgbClr val="0C80EC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CLICK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48733" y="5701266"/>
            <a:ext cx="5493889" cy="1187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28"/>
              </a:lnSpc>
            </a:pPr>
            <a:r>
              <a:rPr lang="en-US" sz="3939">
                <a:solidFill>
                  <a:srgbClr val="F8F8F8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 Student Cybersecurity Awareness Initiative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645330" y="7062064"/>
            <a:ext cx="6114230" cy="229572"/>
          </a:xfrm>
          <a:custGeom>
            <a:avLst/>
            <a:gdLst/>
            <a:ahLst/>
            <a:cxnLst/>
            <a:rect r="r" b="b" t="t" l="l"/>
            <a:pathLst>
              <a:path h="229572" w="6114230">
                <a:moveTo>
                  <a:pt x="0" y="0"/>
                </a:moveTo>
                <a:lnTo>
                  <a:pt x="6114230" y="0"/>
                </a:lnTo>
                <a:lnTo>
                  <a:pt x="6114230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739610" y="7514103"/>
            <a:ext cx="6406177" cy="483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3"/>
              </a:lnSpc>
            </a:pPr>
            <a:r>
              <a:rPr lang="en-US" sz="3102">
                <a:solidFill>
                  <a:srgbClr val="0C80EC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Recognize. Think. Verify. Stay Safe.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82549" y="8538240"/>
            <a:ext cx="2112305" cy="429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759">
                <a:solidFill>
                  <a:srgbClr val="F8F8F8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Presented by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81165" y="8954408"/>
            <a:ext cx="2250712" cy="580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849" b="true">
                <a:solidFill>
                  <a:srgbClr val="0C80EC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Ancy Alex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7612708" y="1924030"/>
            <a:ext cx="2843828" cy="1727254"/>
          </a:xfrm>
          <a:custGeom>
            <a:avLst/>
            <a:gdLst/>
            <a:ahLst/>
            <a:cxnLst/>
            <a:rect r="r" b="b" t="t" l="l"/>
            <a:pathLst>
              <a:path h="1727254" w="2843828">
                <a:moveTo>
                  <a:pt x="0" y="0"/>
                </a:moveTo>
                <a:lnTo>
                  <a:pt x="2843828" y="0"/>
                </a:lnTo>
                <a:lnTo>
                  <a:pt x="2843828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7831464" y="2142670"/>
            <a:ext cx="885962" cy="1082267"/>
          </a:xfrm>
          <a:custGeom>
            <a:avLst/>
            <a:gdLst/>
            <a:ahLst/>
            <a:cxnLst/>
            <a:rect r="r" b="b" t="t" l="l"/>
            <a:pathLst>
              <a:path h="1082267" w="885962">
                <a:moveTo>
                  <a:pt x="0" y="0"/>
                </a:moveTo>
                <a:lnTo>
                  <a:pt x="885962" y="0"/>
                </a:lnTo>
                <a:lnTo>
                  <a:pt x="885962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210937">
            <a:off x="8743431" y="2442589"/>
            <a:ext cx="1659247" cy="749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740" spc="-51">
                <a:solidFill>
                  <a:srgbClr val="0C80EC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VERIFY SOURCES</a:t>
            </a:r>
          </a:p>
          <a:p>
            <a:pPr algn="l">
              <a:lnSpc>
                <a:spcPts val="2088"/>
              </a:lnSpc>
            </a:pPr>
            <a:r>
              <a:rPr lang="en-US" sz="1740" spc="-51">
                <a:solidFill>
                  <a:srgbClr val="1D69A8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Don't trust unknown messages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4798842" y="634055"/>
            <a:ext cx="3062584" cy="1945894"/>
          </a:xfrm>
          <a:custGeom>
            <a:avLst/>
            <a:gdLst/>
            <a:ahLst/>
            <a:cxnLst/>
            <a:rect r="r" b="b" t="t" l="l"/>
            <a:pathLst>
              <a:path h="1945894" w="3062584">
                <a:moveTo>
                  <a:pt x="0" y="0"/>
                </a:moveTo>
                <a:lnTo>
                  <a:pt x="3062584" y="0"/>
                </a:lnTo>
                <a:lnTo>
                  <a:pt x="3062584" y="1945894"/>
                </a:lnTo>
                <a:lnTo>
                  <a:pt x="0" y="194589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5017598" y="1071335"/>
            <a:ext cx="885962" cy="1082267"/>
          </a:xfrm>
          <a:custGeom>
            <a:avLst/>
            <a:gdLst/>
            <a:ahLst/>
            <a:cxnLst/>
            <a:rect r="r" b="b" t="t" l="l"/>
            <a:pathLst>
              <a:path h="1082267" w="885962">
                <a:moveTo>
                  <a:pt x="0" y="0"/>
                </a:moveTo>
                <a:lnTo>
                  <a:pt x="885962" y="0"/>
                </a:lnTo>
                <a:lnTo>
                  <a:pt x="885962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-221484">
            <a:off x="16004948" y="1252783"/>
            <a:ext cx="1491113" cy="749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b="true" sz="1740" spc="-51">
                <a:solidFill>
                  <a:srgbClr val="D15C4B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PHISHING ALERT</a:t>
            </a:r>
          </a:p>
          <a:p>
            <a:pPr algn="l">
              <a:lnSpc>
                <a:spcPts val="2088"/>
              </a:lnSpc>
            </a:pPr>
            <a:r>
              <a:rPr lang="en-US" sz="1740" spc="-51">
                <a:solidFill>
                  <a:srgbClr val="806B8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Suspicous email detected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7831464" y="3848060"/>
            <a:ext cx="2843828" cy="1727254"/>
          </a:xfrm>
          <a:custGeom>
            <a:avLst/>
            <a:gdLst/>
            <a:ahLst/>
            <a:cxnLst/>
            <a:rect r="r" b="b" t="t" l="l"/>
            <a:pathLst>
              <a:path h="1727254" w="2843828">
                <a:moveTo>
                  <a:pt x="0" y="0"/>
                </a:moveTo>
                <a:lnTo>
                  <a:pt x="2843828" y="0"/>
                </a:lnTo>
                <a:lnTo>
                  <a:pt x="2843828" y="1727253"/>
                </a:lnTo>
                <a:lnTo>
                  <a:pt x="0" y="172725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8050220" y="4285339"/>
            <a:ext cx="885962" cy="863627"/>
          </a:xfrm>
          <a:custGeom>
            <a:avLst/>
            <a:gdLst/>
            <a:ahLst/>
            <a:cxnLst/>
            <a:rect r="r" b="b" t="t" l="l"/>
            <a:pathLst>
              <a:path h="863627" w="885962">
                <a:moveTo>
                  <a:pt x="0" y="0"/>
                </a:moveTo>
                <a:lnTo>
                  <a:pt x="885962" y="0"/>
                </a:lnTo>
                <a:lnTo>
                  <a:pt x="885962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68554">
            <a:off x="8905407" y="4415559"/>
            <a:ext cx="1535120" cy="749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b="true" sz="1740" spc="-51">
                <a:solidFill>
                  <a:srgbClr val="D15C4B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SUSPICIOUS LINK</a:t>
            </a:r>
          </a:p>
          <a:p>
            <a:pPr algn="l">
              <a:lnSpc>
                <a:spcPts val="2088"/>
              </a:lnSpc>
            </a:pPr>
            <a:r>
              <a:rPr lang="en-US" sz="1740" spc="-51">
                <a:solidFill>
                  <a:srgbClr val="806B8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This site may be</a:t>
            </a:r>
          </a:p>
          <a:p>
            <a:pPr algn="l">
              <a:lnSpc>
                <a:spcPts val="2088"/>
              </a:lnSpc>
            </a:pPr>
            <a:r>
              <a:rPr lang="en-US" sz="1740" spc="-51">
                <a:solidFill>
                  <a:srgbClr val="806B8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unsafe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16319196" y="2776725"/>
            <a:ext cx="1760986" cy="2153601"/>
          </a:xfrm>
          <a:custGeom>
            <a:avLst/>
            <a:gdLst/>
            <a:ahLst/>
            <a:cxnLst/>
            <a:rect r="r" b="b" t="t" l="l"/>
            <a:pathLst>
              <a:path h="2153601" w="1760986">
                <a:moveTo>
                  <a:pt x="0" y="0"/>
                </a:moveTo>
                <a:lnTo>
                  <a:pt x="1760986" y="0"/>
                </a:lnTo>
                <a:lnTo>
                  <a:pt x="1760986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6756708" y="2995365"/>
            <a:ext cx="885962" cy="863627"/>
          </a:xfrm>
          <a:custGeom>
            <a:avLst/>
            <a:gdLst/>
            <a:ahLst/>
            <a:cxnLst/>
            <a:rect r="r" b="b" t="t" l="l"/>
            <a:pathLst>
              <a:path h="863627" w="885962">
                <a:moveTo>
                  <a:pt x="0" y="0"/>
                </a:moveTo>
                <a:lnTo>
                  <a:pt x="885962" y="0"/>
                </a:lnTo>
                <a:lnTo>
                  <a:pt x="885962" y="863626"/>
                </a:lnTo>
                <a:lnTo>
                  <a:pt x="0" y="86362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68554">
            <a:off x="16787973" y="3863845"/>
            <a:ext cx="886454" cy="705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0"/>
              </a:lnSpc>
            </a:pPr>
            <a:r>
              <a:rPr lang="en-US" sz="1617" spc="-48">
                <a:solidFill>
                  <a:srgbClr val="0C80EC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PROTECT</a:t>
            </a:r>
          </a:p>
          <a:p>
            <a:pPr algn="l">
              <a:lnSpc>
                <a:spcPts val="1940"/>
              </a:lnSpc>
            </a:pPr>
            <a:r>
              <a:rPr lang="en-US" sz="1617" spc="-48">
                <a:solidFill>
                  <a:srgbClr val="1D69A8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your data</a:t>
            </a:r>
          </a:p>
          <a:p>
            <a:pPr algn="l">
              <a:lnSpc>
                <a:spcPts val="1940"/>
              </a:lnSpc>
            </a:pPr>
            <a:r>
              <a:rPr lang="en-US" sz="1617" spc="-48">
                <a:solidFill>
                  <a:srgbClr val="1D69A8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and privacy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14798842" y="5138034"/>
            <a:ext cx="2843828" cy="1934962"/>
          </a:xfrm>
          <a:custGeom>
            <a:avLst/>
            <a:gdLst/>
            <a:ahLst/>
            <a:cxnLst/>
            <a:rect r="r" b="b" t="t" l="l"/>
            <a:pathLst>
              <a:path h="1934962" w="2843828">
                <a:moveTo>
                  <a:pt x="0" y="0"/>
                </a:moveTo>
                <a:lnTo>
                  <a:pt x="2843828" y="0"/>
                </a:lnTo>
                <a:lnTo>
                  <a:pt x="2843828" y="1934962"/>
                </a:lnTo>
                <a:lnTo>
                  <a:pt x="0" y="193496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5017598" y="5564382"/>
            <a:ext cx="1093780" cy="1082267"/>
          </a:xfrm>
          <a:custGeom>
            <a:avLst/>
            <a:gdLst/>
            <a:ahLst/>
            <a:cxnLst/>
            <a:rect r="r" b="b" t="t" l="l"/>
            <a:pathLst>
              <a:path h="1082267" w="1093780">
                <a:moveTo>
                  <a:pt x="0" y="0"/>
                </a:moveTo>
                <a:lnTo>
                  <a:pt x="1093780" y="0"/>
                </a:lnTo>
                <a:lnTo>
                  <a:pt x="1093780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210937">
            <a:off x="16089890" y="5746458"/>
            <a:ext cx="1062904" cy="812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6"/>
              </a:lnSpc>
            </a:pPr>
            <a:r>
              <a:rPr lang="en-US" sz="1863" spc="-55">
                <a:solidFill>
                  <a:srgbClr val="0C80EC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CHECK QR</a:t>
            </a:r>
          </a:p>
          <a:p>
            <a:pPr algn="l">
              <a:lnSpc>
                <a:spcPts val="2236"/>
              </a:lnSpc>
            </a:pPr>
            <a:r>
              <a:rPr lang="en-US" sz="1863" spc="-55">
                <a:solidFill>
                  <a:srgbClr val="1D69A8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Scan safely,</a:t>
            </a:r>
          </a:p>
          <a:p>
            <a:pPr algn="l">
              <a:lnSpc>
                <a:spcPts val="2236"/>
              </a:lnSpc>
            </a:pPr>
            <a:r>
              <a:rPr lang="en-US" sz="1863" spc="-55">
                <a:solidFill>
                  <a:srgbClr val="1D69A8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stay secure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5990729"/>
            <a:ext cx="6540804" cy="4296271"/>
          </a:xfrm>
          <a:custGeom>
            <a:avLst/>
            <a:gdLst/>
            <a:ahLst/>
            <a:cxnLst/>
            <a:rect r="r" b="b" t="t" l="l"/>
            <a:pathLst>
              <a:path h="4296271" w="6540804">
                <a:moveTo>
                  <a:pt x="0" y="0"/>
                </a:moveTo>
                <a:lnTo>
                  <a:pt x="6540804" y="0"/>
                </a:lnTo>
                <a:lnTo>
                  <a:pt x="6540804" y="4296271"/>
                </a:lnTo>
                <a:lnTo>
                  <a:pt x="0" y="42962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94840" y="506784"/>
            <a:ext cx="4809796" cy="979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59"/>
              </a:lnSpc>
            </a:pPr>
            <a:r>
              <a:rPr lang="en-US" sz="6287" b="true">
                <a:solidFill>
                  <a:srgbClr val="FFFFFF">
                    <a:alpha val="89804"/>
                  </a:srgbClr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THE PROBLEM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93315" y="1615622"/>
            <a:ext cx="4962273" cy="867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sz="2759" b="true">
                <a:solidFill>
                  <a:srgbClr val="3089E1"/>
                </a:solidFill>
                <a:latin typeface="Roboto Bold"/>
                <a:ea typeface="Roboto Bold"/>
                <a:cs typeface="Roboto Bold"/>
                <a:sym typeface="Roboto Bold"/>
              </a:rPr>
              <a:t>Students face social engineering threats every day.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42938" y="2766648"/>
            <a:ext cx="5223867" cy="1121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3"/>
              </a:lnSpc>
            </a:pPr>
            <a:r>
              <a:rPr lang="en-US" sz="2188">
                <a:solidFill>
                  <a:srgbClr val="FFFFFF">
                    <a:alpha val="84706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Students spend significant time on email, social media, messaging apps, online learning platforms, and digital services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42938" y="4125927"/>
            <a:ext cx="5223867" cy="787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2"/>
              </a:lnSpc>
            </a:pPr>
            <a:r>
              <a:rPr lang="en-US" sz="2387">
                <a:solidFill>
                  <a:srgbClr val="FFFFFF">
                    <a:alpha val="84706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Attackers exploit human psychology beyond technical vulnerabilities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42938" y="5141976"/>
            <a:ext cx="5223867" cy="1180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2"/>
              </a:lnSpc>
            </a:pPr>
            <a:r>
              <a:rPr lang="en-US" sz="2387">
                <a:solidFill>
                  <a:srgbClr val="FFFFFF">
                    <a:alpha val="84706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Social engineering manipulates urgency, fear, curiosity, trust, authority, </a:t>
            </a:r>
          </a:p>
          <a:p>
            <a:pPr algn="l">
              <a:lnSpc>
                <a:spcPts val="3222"/>
              </a:lnSpc>
            </a:pPr>
            <a:r>
              <a:rPr lang="en-US" sz="2387">
                <a:solidFill>
                  <a:srgbClr val="FFFFFF">
                    <a:alpha val="84706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and attractive offers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831211" y="593720"/>
            <a:ext cx="5357812" cy="37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1"/>
              </a:lnSpc>
            </a:pPr>
            <a:r>
              <a:rPr lang="en-US" sz="2321" b="true">
                <a:solidFill>
                  <a:srgbClr val="3089E1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COMMON SCAMS STUDENTS ENCOUNTER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6529866" y="1071335"/>
            <a:ext cx="5884536" cy="1716322"/>
          </a:xfrm>
          <a:custGeom>
            <a:avLst/>
            <a:gdLst/>
            <a:ahLst/>
            <a:cxnLst/>
            <a:rect r="r" b="b" t="t" l="l"/>
            <a:pathLst>
              <a:path h="1716322" w="5884536">
                <a:moveTo>
                  <a:pt x="0" y="0"/>
                </a:moveTo>
                <a:lnTo>
                  <a:pt x="5884536" y="0"/>
                </a:lnTo>
                <a:lnTo>
                  <a:pt x="5884536" y="1716322"/>
                </a:lnTo>
                <a:lnTo>
                  <a:pt x="0" y="17163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6870522" y="1714475"/>
            <a:ext cx="1426743" cy="400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4"/>
              </a:lnSpc>
            </a:pPr>
            <a:r>
              <a:rPr lang="en-US" b="true" sz="2759" spc="-55">
                <a:solidFill>
                  <a:srgbClr val="3089E1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PHISHING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374584" y="1347950"/>
            <a:ext cx="2837644" cy="1113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4"/>
              </a:lnSpc>
            </a:pPr>
            <a:r>
              <a:rPr lang="en-US" sz="1916">
                <a:solidFill>
                  <a:srgbClr val="FFFFFF">
                    <a:alpha val="84706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Fake emails or messages designed to steal credentials or information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6529866" y="2776725"/>
            <a:ext cx="5884536" cy="1727254"/>
          </a:xfrm>
          <a:custGeom>
            <a:avLst/>
            <a:gdLst/>
            <a:ahLst/>
            <a:cxnLst/>
            <a:rect r="r" b="b" t="t" l="l"/>
            <a:pathLst>
              <a:path h="1727254" w="5884536">
                <a:moveTo>
                  <a:pt x="0" y="0"/>
                </a:moveTo>
                <a:lnTo>
                  <a:pt x="5884536" y="0"/>
                </a:lnTo>
                <a:lnTo>
                  <a:pt x="5884536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6867828" y="3099930"/>
            <a:ext cx="1696123" cy="1095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8"/>
              </a:lnSpc>
            </a:pPr>
            <a:r>
              <a:rPr lang="en-US" b="true" sz="2654" spc="-53">
                <a:solidFill>
                  <a:srgbClr val="3089E1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FAKE INTERNSHIP SCAMS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374569" y="3094436"/>
            <a:ext cx="2839215" cy="1113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4"/>
              </a:lnSpc>
            </a:pPr>
            <a:r>
              <a:rPr lang="en-US" sz="1916">
                <a:solidFill>
                  <a:srgbClr val="FFFFFF">
                    <a:alpha val="84706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Fraudulent internship offers that collect money </a:t>
            </a:r>
          </a:p>
          <a:p>
            <a:pPr algn="l">
              <a:lnSpc>
                <a:spcPts val="3064"/>
              </a:lnSpc>
            </a:pPr>
            <a:r>
              <a:rPr lang="en-US" sz="1916">
                <a:solidFill>
                  <a:srgbClr val="FFFFFF">
                    <a:alpha val="84706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or personal data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6529866" y="4493047"/>
            <a:ext cx="5884536" cy="1945894"/>
          </a:xfrm>
          <a:custGeom>
            <a:avLst/>
            <a:gdLst/>
            <a:ahLst/>
            <a:cxnLst/>
            <a:rect r="r" b="b" t="t" l="l"/>
            <a:pathLst>
              <a:path h="1945894" w="5884536">
                <a:moveTo>
                  <a:pt x="0" y="0"/>
                </a:moveTo>
                <a:lnTo>
                  <a:pt x="5884536" y="0"/>
                </a:lnTo>
                <a:lnTo>
                  <a:pt x="5884536" y="1945893"/>
                </a:lnTo>
                <a:lnTo>
                  <a:pt x="0" y="194589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6865239" y="5218105"/>
            <a:ext cx="1955000" cy="312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6"/>
              </a:lnSpc>
            </a:pPr>
            <a:r>
              <a:rPr lang="en-US" b="true" sz="2179" spc="-43">
                <a:solidFill>
                  <a:srgbClr val="3089E1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IMPERSONATION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374572" y="4836288"/>
            <a:ext cx="2838905" cy="1056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3"/>
              </a:lnSpc>
            </a:pPr>
            <a:r>
              <a:rPr lang="en-US" sz="1784">
                <a:solidFill>
                  <a:srgbClr val="FFFFFF">
                    <a:alpha val="84706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Attackers pretend to be friends, teachers, recruiters, or trusted organizations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6529866" y="6209369"/>
            <a:ext cx="5884536" cy="1934962"/>
          </a:xfrm>
          <a:custGeom>
            <a:avLst/>
            <a:gdLst/>
            <a:ahLst/>
            <a:cxnLst/>
            <a:rect r="r" b="b" t="t" l="l"/>
            <a:pathLst>
              <a:path h="1934962" w="5884536">
                <a:moveTo>
                  <a:pt x="0" y="0"/>
                </a:moveTo>
                <a:lnTo>
                  <a:pt x="5884536" y="0"/>
                </a:lnTo>
                <a:lnTo>
                  <a:pt x="5884536" y="1934961"/>
                </a:lnTo>
                <a:lnTo>
                  <a:pt x="0" y="193496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6867930" y="6729592"/>
            <a:ext cx="1685930" cy="738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8"/>
              </a:lnSpc>
            </a:pPr>
            <a:r>
              <a:rPr lang="en-US" b="true" sz="2654" spc="-53">
                <a:solidFill>
                  <a:srgbClr val="3089E1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SUSPICIOUS LINKS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379448" y="6543320"/>
            <a:ext cx="2351248" cy="1113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4"/>
              </a:lnSpc>
            </a:pPr>
            <a:r>
              <a:rPr lang="en-US" sz="1916">
                <a:solidFill>
                  <a:srgbClr val="FFFFFF">
                    <a:alpha val="84706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Links that redirect to </a:t>
            </a:r>
          </a:p>
          <a:p>
            <a:pPr algn="l">
              <a:lnSpc>
                <a:spcPts val="3064"/>
              </a:lnSpc>
            </a:pPr>
            <a:r>
              <a:rPr lang="en-US" sz="1916">
                <a:solidFill>
                  <a:srgbClr val="FFFFFF">
                    <a:alpha val="84706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unsafe or fraudulent </a:t>
            </a:r>
          </a:p>
          <a:p>
            <a:pPr algn="l">
              <a:lnSpc>
                <a:spcPts val="3064"/>
              </a:lnSpc>
            </a:pPr>
            <a:r>
              <a:rPr lang="en-US" sz="1916">
                <a:solidFill>
                  <a:srgbClr val="FFFFFF">
                    <a:alpha val="84706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websites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6529866" y="7925691"/>
            <a:ext cx="5884536" cy="1934962"/>
          </a:xfrm>
          <a:custGeom>
            <a:avLst/>
            <a:gdLst/>
            <a:ahLst/>
            <a:cxnLst/>
            <a:rect r="r" b="b" t="t" l="l"/>
            <a:pathLst>
              <a:path h="1934962" w="5884536">
                <a:moveTo>
                  <a:pt x="0" y="0"/>
                </a:moveTo>
                <a:lnTo>
                  <a:pt x="5884536" y="0"/>
                </a:lnTo>
                <a:lnTo>
                  <a:pt x="5884536" y="1934961"/>
                </a:lnTo>
                <a:lnTo>
                  <a:pt x="0" y="193496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6872231" y="8476650"/>
            <a:ext cx="1255828" cy="738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8"/>
              </a:lnSpc>
            </a:pPr>
            <a:r>
              <a:rPr lang="en-US" b="true" sz="2654" spc="-53">
                <a:solidFill>
                  <a:srgbClr val="3089E1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QR-CODE SCAMS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377880" y="8290378"/>
            <a:ext cx="2508104" cy="1113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4"/>
              </a:lnSpc>
            </a:pPr>
            <a:r>
              <a:rPr lang="en-US" sz="1916">
                <a:solidFill>
                  <a:srgbClr val="FFFFFF">
                    <a:alpha val="84706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Unexpected QR codes </a:t>
            </a:r>
          </a:p>
          <a:p>
            <a:pPr algn="l">
              <a:lnSpc>
                <a:spcPts val="3064"/>
              </a:lnSpc>
            </a:pPr>
            <a:r>
              <a:rPr lang="en-US" sz="1916">
                <a:solidFill>
                  <a:srgbClr val="FFFFFF">
                    <a:alpha val="84706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that lead to unsafe </a:t>
            </a:r>
          </a:p>
          <a:p>
            <a:pPr algn="l">
              <a:lnSpc>
                <a:spcPts val="3064"/>
              </a:lnSpc>
            </a:pPr>
            <a:r>
              <a:rPr lang="en-US" sz="1916">
                <a:solidFill>
                  <a:srgbClr val="FFFFFF">
                    <a:alpha val="84706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actions or data theft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13059732" y="1071335"/>
            <a:ext cx="4801694" cy="863627"/>
          </a:xfrm>
          <a:custGeom>
            <a:avLst/>
            <a:gdLst/>
            <a:ahLst/>
            <a:cxnLst/>
            <a:rect r="r" b="b" t="t" l="l"/>
            <a:pathLst>
              <a:path h="863627" w="4801694">
                <a:moveTo>
                  <a:pt x="0" y="0"/>
                </a:moveTo>
                <a:lnTo>
                  <a:pt x="4801694" y="0"/>
                </a:lnTo>
                <a:lnTo>
                  <a:pt x="4801694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4160773" y="1304526"/>
            <a:ext cx="2518022" cy="322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97"/>
              </a:lnSpc>
            </a:pPr>
            <a:r>
              <a:rPr lang="en-US" b="true" sz="1924">
                <a:solidFill>
                  <a:srgbClr val="FFFFFF">
                    <a:alpha val="84706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HIGH DIGITAL USAGE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5236354" y="1705390"/>
            <a:ext cx="448450" cy="655919"/>
          </a:xfrm>
          <a:custGeom>
            <a:avLst/>
            <a:gdLst/>
            <a:ahLst/>
            <a:cxnLst/>
            <a:rect r="r" b="b" t="t" l="l"/>
            <a:pathLst>
              <a:path h="655919" w="448450">
                <a:moveTo>
                  <a:pt x="0" y="0"/>
                </a:moveTo>
                <a:lnTo>
                  <a:pt x="448450" y="0"/>
                </a:lnTo>
                <a:lnTo>
                  <a:pt x="448450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3059732" y="2142670"/>
            <a:ext cx="4801694" cy="1082267"/>
          </a:xfrm>
          <a:custGeom>
            <a:avLst/>
            <a:gdLst/>
            <a:ahLst/>
            <a:cxnLst/>
            <a:rect r="r" b="b" t="t" l="l"/>
            <a:pathLst>
              <a:path h="1082267" w="4801694">
                <a:moveTo>
                  <a:pt x="0" y="0"/>
                </a:moveTo>
                <a:lnTo>
                  <a:pt x="4801694" y="0"/>
                </a:lnTo>
                <a:lnTo>
                  <a:pt x="4801694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3636123" y="2464211"/>
            <a:ext cx="3567323" cy="322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97"/>
              </a:lnSpc>
            </a:pPr>
            <a:r>
              <a:rPr lang="en-US" b="true" sz="1924">
                <a:solidFill>
                  <a:srgbClr val="FFFFFF">
                    <a:alpha val="84706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LOW PRACTICAL AWARENESS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15236354" y="2995365"/>
            <a:ext cx="448450" cy="437279"/>
          </a:xfrm>
          <a:custGeom>
            <a:avLst/>
            <a:gdLst/>
            <a:ahLst/>
            <a:cxnLst/>
            <a:rect r="r" b="b" t="t" l="l"/>
            <a:pathLst>
              <a:path h="437279" w="448450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3059732" y="3214004"/>
            <a:ext cx="4801694" cy="1289974"/>
          </a:xfrm>
          <a:custGeom>
            <a:avLst/>
            <a:gdLst/>
            <a:ahLst/>
            <a:cxnLst/>
            <a:rect r="r" b="b" t="t" l="l"/>
            <a:pathLst>
              <a:path h="1289974" w="4801694">
                <a:moveTo>
                  <a:pt x="0" y="0"/>
                </a:moveTo>
                <a:lnTo>
                  <a:pt x="4801694" y="0"/>
                </a:lnTo>
                <a:lnTo>
                  <a:pt x="4801694" y="1289975"/>
                </a:lnTo>
                <a:lnTo>
                  <a:pt x="0" y="128997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13963208" y="3593774"/>
            <a:ext cx="2913153" cy="644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97"/>
              </a:lnSpc>
            </a:pPr>
            <a:r>
              <a:rPr lang="en-US" b="true" sz="1924">
                <a:solidFill>
                  <a:srgbClr val="FFFFFF">
                    <a:alpha val="84706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FAILURE TO RECOGNIZE </a:t>
            </a:r>
          </a:p>
          <a:p>
            <a:pPr algn="ctr">
              <a:lnSpc>
                <a:spcPts val="2597"/>
              </a:lnSpc>
            </a:pPr>
            <a:r>
              <a:rPr lang="en-US" b="true" sz="1924">
                <a:solidFill>
                  <a:srgbClr val="FFFFFF">
                    <a:alpha val="84706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WARNING SIGNS</a:t>
            </a:r>
          </a:p>
        </p:txBody>
      </p:sp>
      <p:sp>
        <p:nvSpPr>
          <p:cNvPr name="Freeform 33" id="33"/>
          <p:cNvSpPr/>
          <p:nvPr/>
        </p:nvSpPr>
        <p:spPr>
          <a:xfrm flipH="false" flipV="false" rot="0">
            <a:off x="15236354" y="4285339"/>
            <a:ext cx="448450" cy="644987"/>
          </a:xfrm>
          <a:custGeom>
            <a:avLst/>
            <a:gdLst/>
            <a:ahLst/>
            <a:cxnLst/>
            <a:rect r="r" b="b" t="t" l="l"/>
            <a:pathLst>
              <a:path h="644987" w="448450">
                <a:moveTo>
                  <a:pt x="0" y="0"/>
                </a:moveTo>
                <a:lnTo>
                  <a:pt x="448450" y="0"/>
                </a:lnTo>
                <a:lnTo>
                  <a:pt x="448450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13059732" y="4711687"/>
            <a:ext cx="4801694" cy="863627"/>
          </a:xfrm>
          <a:custGeom>
            <a:avLst/>
            <a:gdLst/>
            <a:ahLst/>
            <a:cxnLst/>
            <a:rect r="r" b="b" t="t" l="l"/>
            <a:pathLst>
              <a:path h="863627" w="4801694">
                <a:moveTo>
                  <a:pt x="0" y="0"/>
                </a:moveTo>
                <a:lnTo>
                  <a:pt x="4801694" y="0"/>
                </a:lnTo>
                <a:lnTo>
                  <a:pt x="4801694" y="863626"/>
                </a:lnTo>
                <a:lnTo>
                  <a:pt x="0" y="86362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14333612" y="4994432"/>
            <a:ext cx="2172345" cy="322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97"/>
              </a:lnSpc>
            </a:pPr>
            <a:r>
              <a:rPr lang="en-US" b="true" sz="1924">
                <a:solidFill>
                  <a:srgbClr val="FFFFFF">
                    <a:alpha val="84706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UNSAFE DECISION</a:t>
            </a:r>
          </a:p>
        </p:txBody>
      </p:sp>
      <p:sp>
        <p:nvSpPr>
          <p:cNvPr name="Freeform 36" id="36"/>
          <p:cNvSpPr/>
          <p:nvPr/>
        </p:nvSpPr>
        <p:spPr>
          <a:xfrm flipH="false" flipV="false" rot="0">
            <a:off x="15236354" y="5356674"/>
            <a:ext cx="448450" cy="644987"/>
          </a:xfrm>
          <a:custGeom>
            <a:avLst/>
            <a:gdLst/>
            <a:ahLst/>
            <a:cxnLst/>
            <a:rect r="r" b="b" t="t" l="l"/>
            <a:pathLst>
              <a:path h="644987" w="448450">
                <a:moveTo>
                  <a:pt x="0" y="0"/>
                </a:moveTo>
                <a:lnTo>
                  <a:pt x="448450" y="0"/>
                </a:lnTo>
                <a:lnTo>
                  <a:pt x="448450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13059732" y="5783021"/>
            <a:ext cx="4801694" cy="1082267"/>
          </a:xfrm>
          <a:custGeom>
            <a:avLst/>
            <a:gdLst/>
            <a:ahLst/>
            <a:cxnLst/>
            <a:rect r="r" b="b" t="t" l="l"/>
            <a:pathLst>
              <a:path h="1082267" w="4801694">
                <a:moveTo>
                  <a:pt x="0" y="0"/>
                </a:moveTo>
                <a:lnTo>
                  <a:pt x="4801694" y="0"/>
                </a:lnTo>
                <a:lnTo>
                  <a:pt x="4801694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TextBox 38" id="38"/>
          <p:cNvSpPr txBox="true"/>
          <p:nvPr/>
        </p:nvSpPr>
        <p:spPr>
          <a:xfrm rot="0">
            <a:off x="13711931" y="5973387"/>
            <a:ext cx="3415706" cy="644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97"/>
              </a:lnSpc>
            </a:pPr>
            <a:r>
              <a:rPr lang="en-US" b="true" sz="1924">
                <a:solidFill>
                  <a:srgbClr val="FFFFFF">
                    <a:alpha val="84706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POSSIBLE DATA / </a:t>
            </a:r>
          </a:p>
          <a:p>
            <a:pPr algn="ctr">
              <a:lnSpc>
                <a:spcPts val="2597"/>
              </a:lnSpc>
            </a:pPr>
            <a:r>
              <a:rPr lang="en-US" b="true" sz="1924">
                <a:solidFill>
                  <a:srgbClr val="FFFFFF">
                    <a:alpha val="84706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ACCOUNT / FINANCIAL LOSS</a:t>
            </a:r>
          </a:p>
        </p:txBody>
      </p:sp>
      <p:sp>
        <p:nvSpPr>
          <p:cNvPr name="Freeform 39" id="39"/>
          <p:cNvSpPr/>
          <p:nvPr/>
        </p:nvSpPr>
        <p:spPr>
          <a:xfrm flipH="false" flipV="false" rot="0">
            <a:off x="12840976" y="7280704"/>
            <a:ext cx="667206" cy="655919"/>
          </a:xfrm>
          <a:custGeom>
            <a:avLst/>
            <a:gdLst/>
            <a:ahLst/>
            <a:cxnLst/>
            <a:rect r="r" b="b" t="t" l="l"/>
            <a:pathLst>
              <a:path h="655919" w="667206">
                <a:moveTo>
                  <a:pt x="0" y="0"/>
                </a:moveTo>
                <a:lnTo>
                  <a:pt x="667206" y="0"/>
                </a:lnTo>
                <a:lnTo>
                  <a:pt x="66720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TextBox 40" id="40"/>
          <p:cNvSpPr txBox="true"/>
          <p:nvPr/>
        </p:nvSpPr>
        <p:spPr>
          <a:xfrm rot="0">
            <a:off x="13545451" y="7515368"/>
            <a:ext cx="3660323" cy="2140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57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Cybersecurity is not only a technical problem — </a:t>
            </a:r>
            <a:r>
              <a:rPr lang="en-US" sz="2575" b="true">
                <a:solidFill>
                  <a:srgbClr val="3089E1"/>
                </a:solidFill>
                <a:latin typeface="Roboto Bold"/>
                <a:ea typeface="Roboto Bold"/>
                <a:cs typeface="Roboto Bold"/>
                <a:sym typeface="Roboto Bold"/>
              </a:rPr>
              <a:t>human decision-making</a:t>
            </a:r>
            <a:r>
              <a:rPr lang="en-US" sz="257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is also a critical line </a:t>
            </a:r>
          </a:p>
          <a:p>
            <a:pPr algn="l">
              <a:lnSpc>
                <a:spcPts val="3475"/>
              </a:lnSpc>
            </a:pPr>
            <a:r>
              <a:rPr lang="en-US" sz="257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of defense.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3582055" y="604218"/>
            <a:ext cx="3750469" cy="344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35"/>
              </a:lnSpc>
            </a:pPr>
            <a:r>
              <a:rPr lang="en-US" b="true" sz="2188">
                <a:solidFill>
                  <a:srgbClr val="3089E1"/>
                </a:solidFill>
                <a:latin typeface="Roboto Bold"/>
                <a:ea typeface="Roboto Bold"/>
                <a:cs typeface="Roboto Bold"/>
                <a:sym typeface="Roboto Bold"/>
              </a:rPr>
              <a:t>HOW IT HAPPENS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98974" y="621336"/>
            <a:ext cx="3680699" cy="772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00"/>
              </a:lnSpc>
            </a:pPr>
            <a:r>
              <a:rPr lang="en-US" sz="5700" spc="-86" b="true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Our Solution: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71658" y="1509926"/>
            <a:ext cx="6412279" cy="772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00"/>
              </a:lnSpc>
            </a:pPr>
            <a:r>
              <a:rPr lang="en-US" sz="5700" spc="-86" b="true">
                <a:solidFill>
                  <a:srgbClr val="268EF3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Think Before You Click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79885" y="2469966"/>
            <a:ext cx="5589659" cy="1698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2"/>
              </a:lnSpc>
            </a:pPr>
            <a:r>
              <a:rPr lang="en-US" sz="2487" spc="-37">
                <a:solidFill>
                  <a:srgbClr val="FFFFFF">
                    <a:alpha val="80000"/>
                  </a:srgb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An interactive cybersecurity awareness platform that teaches students to recognize social-engineering attacks through realistic situations and immediate feedback.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426574" y="4493047"/>
            <a:ext cx="5239206" cy="4941258"/>
          </a:xfrm>
          <a:custGeom>
            <a:avLst/>
            <a:gdLst/>
            <a:ahLst/>
            <a:cxnLst/>
            <a:rect r="r" b="b" t="t" l="l"/>
            <a:pathLst>
              <a:path h="4941258" w="5239206">
                <a:moveTo>
                  <a:pt x="0" y="0"/>
                </a:moveTo>
                <a:lnTo>
                  <a:pt x="5239206" y="0"/>
                </a:lnTo>
                <a:lnTo>
                  <a:pt x="5239206" y="4941258"/>
                </a:lnTo>
                <a:lnTo>
                  <a:pt x="0" y="4941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49745" y="4912024"/>
            <a:ext cx="2181723" cy="315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1"/>
              </a:lnSpc>
            </a:pPr>
            <a:r>
              <a:rPr lang="en-US" sz="2311" spc="-34" b="true">
                <a:solidFill>
                  <a:srgbClr val="268EF3">
                    <a:alpha val="80000"/>
                  </a:srgbClr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Phishing</a:t>
            </a:r>
            <a:r>
              <a:rPr lang="en-US" sz="2311" spc="-34">
                <a:solidFill>
                  <a:srgbClr val="FFFFFF">
                    <a:alpha val="80000"/>
                  </a:srgb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Challenge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35876" y="5569668"/>
            <a:ext cx="3568603" cy="305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1"/>
              </a:lnSpc>
            </a:pPr>
            <a:r>
              <a:rPr lang="en-US" sz="2271" spc="-34" b="true">
                <a:solidFill>
                  <a:srgbClr val="268EF3">
                    <a:alpha val="80000"/>
                  </a:srgbClr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Fake Internship</a:t>
            </a:r>
            <a:r>
              <a:rPr lang="en-US" sz="2271" spc="-34">
                <a:solidFill>
                  <a:srgbClr val="FFFFFF">
                    <a:alpha val="80000"/>
                  </a:srgb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Scam Detection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39188" y="6206755"/>
            <a:ext cx="3237487" cy="316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51"/>
              </a:lnSpc>
            </a:pPr>
            <a:r>
              <a:rPr lang="en-US" sz="2351" spc="-35" b="true">
                <a:solidFill>
                  <a:srgbClr val="268EF3">
                    <a:alpha val="80000"/>
                  </a:srgbClr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Social-Media</a:t>
            </a:r>
            <a:r>
              <a:rPr lang="en-US" sz="2351" spc="-35">
                <a:solidFill>
                  <a:srgbClr val="FFFFFF">
                    <a:alpha val="80000"/>
                  </a:srgb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Impersonation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41194" y="6879961"/>
            <a:ext cx="3036896" cy="305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1"/>
              </a:lnSpc>
            </a:pPr>
            <a:r>
              <a:rPr lang="en-US" sz="2271" spc="-34" b="true">
                <a:solidFill>
                  <a:srgbClr val="268EF3">
                    <a:alpha val="80000"/>
                  </a:srgbClr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Suspicious Link</a:t>
            </a:r>
            <a:r>
              <a:rPr lang="en-US" sz="2271" spc="-34">
                <a:solidFill>
                  <a:srgbClr val="FFFFFF">
                    <a:alpha val="80000"/>
                  </a:srgb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Awareness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41672" y="7512516"/>
            <a:ext cx="2989040" cy="305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1"/>
              </a:lnSpc>
            </a:pPr>
            <a:r>
              <a:rPr lang="en-US" sz="2271" spc="-34" b="true">
                <a:solidFill>
                  <a:srgbClr val="268EF3">
                    <a:alpha val="80000"/>
                  </a:srgbClr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QR-Code</a:t>
            </a:r>
            <a:r>
              <a:rPr lang="en-US" sz="2271" spc="-34">
                <a:solidFill>
                  <a:srgbClr val="FFFFFF">
                    <a:alpha val="80000"/>
                  </a:srgb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Scam Awareness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45455" y="8160132"/>
            <a:ext cx="2610726" cy="305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1"/>
              </a:lnSpc>
            </a:pPr>
            <a:r>
              <a:rPr lang="en-US" sz="2271" spc="-34">
                <a:solidFill>
                  <a:srgbClr val="FFFFFF">
                    <a:alpha val="80000"/>
                  </a:srgb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Cyber Awareness </a:t>
            </a:r>
            <a:r>
              <a:rPr lang="en-US" sz="2271" spc="-34" b="true">
                <a:solidFill>
                  <a:srgbClr val="268EF3">
                    <a:alpha val="80000"/>
                  </a:srgbClr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Score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44305" y="8807650"/>
            <a:ext cx="2725770" cy="295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2"/>
              </a:lnSpc>
            </a:pPr>
            <a:r>
              <a:rPr lang="en-US" sz="2232" spc="-33">
                <a:solidFill>
                  <a:srgbClr val="FFFFFF">
                    <a:alpha val="80000"/>
                  </a:srgb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Personalized </a:t>
            </a:r>
            <a:r>
              <a:rPr lang="en-US" sz="2232" spc="-33" b="true">
                <a:solidFill>
                  <a:srgbClr val="268EF3">
                    <a:alpha val="80000"/>
                  </a:srgbClr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Safety Tips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864086" y="5356674"/>
            <a:ext cx="4145426" cy="3432644"/>
          </a:xfrm>
          <a:custGeom>
            <a:avLst/>
            <a:gdLst/>
            <a:ahLst/>
            <a:cxnLst/>
            <a:rect r="r" b="b" t="t" l="l"/>
            <a:pathLst>
              <a:path h="3432644" w="4145426">
                <a:moveTo>
                  <a:pt x="0" y="0"/>
                </a:moveTo>
                <a:lnTo>
                  <a:pt x="4145426" y="0"/>
                </a:lnTo>
                <a:lnTo>
                  <a:pt x="4145426" y="3432644"/>
                </a:lnTo>
                <a:lnTo>
                  <a:pt x="0" y="34326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7175196" y="852695"/>
            <a:ext cx="3937608" cy="863627"/>
          </a:xfrm>
          <a:custGeom>
            <a:avLst/>
            <a:gdLst/>
            <a:ahLst/>
            <a:cxnLst/>
            <a:rect r="r" b="b" t="t" l="l"/>
            <a:pathLst>
              <a:path h="863627" w="3937608">
                <a:moveTo>
                  <a:pt x="0" y="0"/>
                </a:moveTo>
                <a:lnTo>
                  <a:pt x="3937608" y="0"/>
                </a:lnTo>
                <a:lnTo>
                  <a:pt x="3937608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313414" y="1129230"/>
            <a:ext cx="3777258" cy="285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88"/>
              </a:lnSpc>
            </a:pPr>
            <a:r>
              <a:rPr lang="en-US" b="true" sz="2188" spc="-33">
                <a:solidFill>
                  <a:srgbClr val="268EF3">
                    <a:alpha val="80000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REALISTIC </a:t>
            </a:r>
            <a:r>
              <a:rPr lang="en-US" b="true" sz="2188" spc="-33">
                <a:solidFill>
                  <a:srgbClr val="FFFFFF">
                    <a:alpha val="80000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CYBER SCENARIO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8925244" y="1497682"/>
            <a:ext cx="437512" cy="655919"/>
          </a:xfrm>
          <a:custGeom>
            <a:avLst/>
            <a:gdLst/>
            <a:ahLst/>
            <a:cxnLst/>
            <a:rect r="r" b="b" t="t" l="l"/>
            <a:pathLst>
              <a:path h="655919" w="437512">
                <a:moveTo>
                  <a:pt x="0" y="0"/>
                </a:moveTo>
                <a:lnTo>
                  <a:pt x="437512" y="0"/>
                </a:lnTo>
                <a:lnTo>
                  <a:pt x="437512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7175196" y="1924030"/>
            <a:ext cx="3937608" cy="1082267"/>
          </a:xfrm>
          <a:custGeom>
            <a:avLst/>
            <a:gdLst/>
            <a:ahLst/>
            <a:cxnLst/>
            <a:rect r="r" b="b" t="t" l="l"/>
            <a:pathLst>
              <a:path h="1082267" w="3937608">
                <a:moveTo>
                  <a:pt x="0" y="0"/>
                </a:moveTo>
                <a:lnTo>
                  <a:pt x="3937608" y="0"/>
                </a:lnTo>
                <a:lnTo>
                  <a:pt x="3937608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7313414" y="2364219"/>
            <a:ext cx="3777258" cy="285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88"/>
              </a:lnSpc>
            </a:pPr>
            <a:r>
              <a:rPr lang="en-US" b="true" sz="2188" spc="-33">
                <a:solidFill>
                  <a:srgbClr val="FFFFFF">
                    <a:alpha val="80000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STUDENT MAKES A </a:t>
            </a:r>
            <a:r>
              <a:rPr lang="en-US" b="true" sz="2188" spc="-33">
                <a:solidFill>
                  <a:srgbClr val="268EF3">
                    <a:alpha val="80000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DECISION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8925244" y="2776725"/>
            <a:ext cx="437512" cy="655919"/>
          </a:xfrm>
          <a:custGeom>
            <a:avLst/>
            <a:gdLst/>
            <a:ahLst/>
            <a:cxnLst/>
            <a:rect r="r" b="b" t="t" l="l"/>
            <a:pathLst>
              <a:path h="655919" w="437512">
                <a:moveTo>
                  <a:pt x="0" y="0"/>
                </a:moveTo>
                <a:lnTo>
                  <a:pt x="437512" y="0"/>
                </a:lnTo>
                <a:lnTo>
                  <a:pt x="437512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7175196" y="3214004"/>
            <a:ext cx="3937608" cy="1082267"/>
          </a:xfrm>
          <a:custGeom>
            <a:avLst/>
            <a:gdLst/>
            <a:ahLst/>
            <a:cxnLst/>
            <a:rect r="r" b="b" t="t" l="l"/>
            <a:pathLst>
              <a:path h="1082267" w="3937608">
                <a:moveTo>
                  <a:pt x="0" y="0"/>
                </a:moveTo>
                <a:lnTo>
                  <a:pt x="3937608" y="0"/>
                </a:lnTo>
                <a:lnTo>
                  <a:pt x="3937608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8925244" y="4066699"/>
            <a:ext cx="437512" cy="437279"/>
          </a:xfrm>
          <a:custGeom>
            <a:avLst/>
            <a:gdLst/>
            <a:ahLst/>
            <a:cxnLst/>
            <a:rect r="r" b="b" t="t" l="l"/>
            <a:pathLst>
              <a:path h="437279" w="437512">
                <a:moveTo>
                  <a:pt x="0" y="0"/>
                </a:moveTo>
                <a:lnTo>
                  <a:pt x="437512" y="0"/>
                </a:lnTo>
                <a:lnTo>
                  <a:pt x="437512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7175196" y="4493047"/>
            <a:ext cx="3937608" cy="874559"/>
          </a:xfrm>
          <a:custGeom>
            <a:avLst/>
            <a:gdLst/>
            <a:ahLst/>
            <a:cxnLst/>
            <a:rect r="r" b="b" t="t" l="l"/>
            <a:pathLst>
              <a:path h="874559" w="3937608">
                <a:moveTo>
                  <a:pt x="0" y="0"/>
                </a:moveTo>
                <a:lnTo>
                  <a:pt x="3937608" y="0"/>
                </a:lnTo>
                <a:lnTo>
                  <a:pt x="3937608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7313414" y="4819136"/>
            <a:ext cx="3777258" cy="285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88"/>
              </a:lnSpc>
            </a:pPr>
            <a:r>
              <a:rPr lang="en-US" b="true" sz="2188" spc="-33">
                <a:solidFill>
                  <a:srgbClr val="FFFFFF">
                    <a:alpha val="80000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IMMEDIATE </a:t>
            </a:r>
            <a:r>
              <a:rPr lang="en-US" b="true" sz="2188" spc="-33">
                <a:solidFill>
                  <a:srgbClr val="268EF3">
                    <a:alpha val="80000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FEEDBACK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8925244" y="5138034"/>
            <a:ext cx="437512" cy="655919"/>
          </a:xfrm>
          <a:custGeom>
            <a:avLst/>
            <a:gdLst/>
            <a:ahLst/>
            <a:cxnLst/>
            <a:rect r="r" b="b" t="t" l="l"/>
            <a:pathLst>
              <a:path h="655919" w="437512">
                <a:moveTo>
                  <a:pt x="0" y="0"/>
                </a:moveTo>
                <a:lnTo>
                  <a:pt x="437512" y="0"/>
                </a:lnTo>
                <a:lnTo>
                  <a:pt x="437512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7175196" y="5564382"/>
            <a:ext cx="3937608" cy="1082267"/>
          </a:xfrm>
          <a:custGeom>
            <a:avLst/>
            <a:gdLst/>
            <a:ahLst/>
            <a:cxnLst/>
            <a:rect r="r" b="b" t="t" l="l"/>
            <a:pathLst>
              <a:path h="1082267" w="3937608">
                <a:moveTo>
                  <a:pt x="0" y="0"/>
                </a:moveTo>
                <a:lnTo>
                  <a:pt x="3937608" y="0"/>
                </a:lnTo>
                <a:lnTo>
                  <a:pt x="3937608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7313414" y="6008942"/>
            <a:ext cx="3777258" cy="285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88"/>
              </a:lnSpc>
            </a:pPr>
            <a:r>
              <a:rPr lang="en-US" b="true" sz="2188" spc="-33">
                <a:solidFill>
                  <a:srgbClr val="FFFFFF">
                    <a:alpha val="80000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LEARN THE </a:t>
            </a:r>
            <a:r>
              <a:rPr lang="en-US" b="true" sz="2188" spc="-33">
                <a:solidFill>
                  <a:srgbClr val="268EF3">
                    <a:alpha val="80000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WARNING SIGNS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8925244" y="6428009"/>
            <a:ext cx="437512" cy="644987"/>
          </a:xfrm>
          <a:custGeom>
            <a:avLst/>
            <a:gdLst/>
            <a:ahLst/>
            <a:cxnLst/>
            <a:rect r="r" b="b" t="t" l="l"/>
            <a:pathLst>
              <a:path h="644987" w="437512">
                <a:moveTo>
                  <a:pt x="0" y="0"/>
                </a:moveTo>
                <a:lnTo>
                  <a:pt x="437512" y="0"/>
                </a:lnTo>
                <a:lnTo>
                  <a:pt x="437512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7175196" y="6854356"/>
            <a:ext cx="3937608" cy="1082267"/>
          </a:xfrm>
          <a:custGeom>
            <a:avLst/>
            <a:gdLst/>
            <a:ahLst/>
            <a:cxnLst/>
            <a:rect r="r" b="b" t="t" l="l"/>
            <a:pathLst>
              <a:path h="1082267" w="3937608">
                <a:moveTo>
                  <a:pt x="0" y="0"/>
                </a:moveTo>
                <a:lnTo>
                  <a:pt x="3937608" y="0"/>
                </a:lnTo>
                <a:lnTo>
                  <a:pt x="3937608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7313414" y="7228870"/>
            <a:ext cx="3777258" cy="285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88"/>
              </a:lnSpc>
            </a:pPr>
            <a:r>
              <a:rPr lang="en-US" b="true" sz="2188" spc="-33">
                <a:solidFill>
                  <a:srgbClr val="FFFFFF">
                    <a:alpha val="80000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CYBER AWARENESS </a:t>
            </a:r>
            <a:r>
              <a:rPr lang="en-US" b="true" sz="2188" spc="-33">
                <a:solidFill>
                  <a:srgbClr val="268EF3">
                    <a:alpha val="80000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SCORE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8925244" y="7707051"/>
            <a:ext cx="437512" cy="655919"/>
          </a:xfrm>
          <a:custGeom>
            <a:avLst/>
            <a:gdLst/>
            <a:ahLst/>
            <a:cxnLst/>
            <a:rect r="r" b="b" t="t" l="l"/>
            <a:pathLst>
              <a:path h="655919" w="437512">
                <a:moveTo>
                  <a:pt x="0" y="0"/>
                </a:moveTo>
                <a:lnTo>
                  <a:pt x="437512" y="0"/>
                </a:lnTo>
                <a:lnTo>
                  <a:pt x="437512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7175196" y="8133399"/>
            <a:ext cx="3937608" cy="1082267"/>
          </a:xfrm>
          <a:custGeom>
            <a:avLst/>
            <a:gdLst/>
            <a:ahLst/>
            <a:cxnLst/>
            <a:rect r="r" b="b" t="t" l="l"/>
            <a:pathLst>
              <a:path h="1082267" w="3937608">
                <a:moveTo>
                  <a:pt x="0" y="0"/>
                </a:moveTo>
                <a:lnTo>
                  <a:pt x="3937608" y="0"/>
                </a:lnTo>
                <a:lnTo>
                  <a:pt x="3937608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7313414" y="8524103"/>
            <a:ext cx="3777258" cy="285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88"/>
              </a:lnSpc>
            </a:pPr>
            <a:r>
              <a:rPr lang="en-US" b="true" sz="2188" spc="-33">
                <a:solidFill>
                  <a:srgbClr val="FFFFFF">
                    <a:alpha val="80000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IMPROVE FUTURE </a:t>
            </a:r>
            <a:r>
              <a:rPr lang="en-US" b="true" sz="2188" spc="-33">
                <a:solidFill>
                  <a:srgbClr val="268EF3">
                    <a:alpha val="80000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DECISIONS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841301" y="627175"/>
            <a:ext cx="5304234" cy="826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47"/>
              </a:lnSpc>
            </a:pPr>
            <a:r>
              <a:rPr lang="en-US" sz="2575" spc="-38">
                <a:solidFill>
                  <a:srgbClr val="FFFFFF">
                    <a:alpha val="80000"/>
                  </a:srgb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Learn by </a:t>
            </a:r>
            <a:r>
              <a:rPr lang="en-US" sz="2575" spc="-38">
                <a:solidFill>
                  <a:srgbClr val="268EF3">
                    <a:alpha val="80000"/>
                  </a:srgb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experiencing</a:t>
            </a:r>
            <a:r>
              <a:rPr lang="en-US" sz="2575" spc="-38">
                <a:solidFill>
                  <a:srgbClr val="FFFFFF">
                    <a:alpha val="80000"/>
                  </a:srgb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realistic situations – not just by reading cybersecurity theory.</a:t>
            </a:r>
          </a:p>
        </p:txBody>
      </p:sp>
      <p:sp>
        <p:nvSpPr>
          <p:cNvPr name="Freeform 35" id="35"/>
          <p:cNvSpPr/>
          <p:nvPr/>
        </p:nvSpPr>
        <p:spPr>
          <a:xfrm flipH="false" flipV="false" rot="0">
            <a:off x="11101866" y="1705390"/>
            <a:ext cx="7186134" cy="5159898"/>
          </a:xfrm>
          <a:custGeom>
            <a:avLst/>
            <a:gdLst/>
            <a:ahLst/>
            <a:cxnLst/>
            <a:rect r="r" b="b" t="t" l="l"/>
            <a:pathLst>
              <a:path h="5159898" w="7186134">
                <a:moveTo>
                  <a:pt x="0" y="0"/>
                </a:moveTo>
                <a:lnTo>
                  <a:pt x="7186134" y="0"/>
                </a:lnTo>
                <a:lnTo>
                  <a:pt x="7186134" y="5159898"/>
                </a:lnTo>
                <a:lnTo>
                  <a:pt x="0" y="5159898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11528440" y="6428009"/>
            <a:ext cx="1979742" cy="1082267"/>
          </a:xfrm>
          <a:custGeom>
            <a:avLst/>
            <a:gdLst/>
            <a:ahLst/>
            <a:cxnLst/>
            <a:rect r="r" b="b" t="t" l="l"/>
            <a:pathLst>
              <a:path h="1082267" w="1979742">
                <a:moveTo>
                  <a:pt x="0" y="0"/>
                </a:moveTo>
                <a:lnTo>
                  <a:pt x="1979742" y="0"/>
                </a:lnTo>
                <a:lnTo>
                  <a:pt x="1979742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11747196" y="6635716"/>
            <a:ext cx="667206" cy="655919"/>
          </a:xfrm>
          <a:custGeom>
            <a:avLst/>
            <a:gdLst/>
            <a:ahLst/>
            <a:cxnLst/>
            <a:rect r="r" b="b" t="t" l="l"/>
            <a:pathLst>
              <a:path h="655919" w="667206">
                <a:moveTo>
                  <a:pt x="0" y="0"/>
                </a:moveTo>
                <a:lnTo>
                  <a:pt x="667206" y="0"/>
                </a:lnTo>
                <a:lnTo>
                  <a:pt x="66720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13497244" y="6428009"/>
            <a:ext cx="2187560" cy="1082267"/>
          </a:xfrm>
          <a:custGeom>
            <a:avLst/>
            <a:gdLst/>
            <a:ahLst/>
            <a:cxnLst/>
            <a:rect r="r" b="b" t="t" l="l"/>
            <a:pathLst>
              <a:path h="1082267" w="2187560">
                <a:moveTo>
                  <a:pt x="0" y="0"/>
                </a:moveTo>
                <a:lnTo>
                  <a:pt x="2187560" y="0"/>
                </a:lnTo>
                <a:lnTo>
                  <a:pt x="2187560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13716000" y="6635716"/>
            <a:ext cx="656268" cy="655919"/>
          </a:xfrm>
          <a:custGeom>
            <a:avLst/>
            <a:gdLst/>
            <a:ahLst/>
            <a:cxnLst/>
            <a:rect r="r" b="b" t="t" l="l"/>
            <a:pathLst>
              <a:path h="655919" w="656268">
                <a:moveTo>
                  <a:pt x="0" y="0"/>
                </a:moveTo>
                <a:lnTo>
                  <a:pt x="656268" y="0"/>
                </a:lnTo>
                <a:lnTo>
                  <a:pt x="656268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15455110" y="6428009"/>
            <a:ext cx="2406316" cy="1082267"/>
          </a:xfrm>
          <a:custGeom>
            <a:avLst/>
            <a:gdLst/>
            <a:ahLst/>
            <a:cxnLst/>
            <a:rect r="r" b="b" t="t" l="l"/>
            <a:pathLst>
              <a:path h="1082267" w="2406316">
                <a:moveTo>
                  <a:pt x="0" y="0"/>
                </a:moveTo>
                <a:lnTo>
                  <a:pt x="2406316" y="0"/>
                </a:lnTo>
                <a:lnTo>
                  <a:pt x="2406316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15892622" y="6635716"/>
            <a:ext cx="656268" cy="655919"/>
          </a:xfrm>
          <a:custGeom>
            <a:avLst/>
            <a:gdLst/>
            <a:ahLst/>
            <a:cxnLst/>
            <a:rect r="r" b="b" t="t" l="l"/>
            <a:pathLst>
              <a:path h="655919" w="656268">
                <a:moveTo>
                  <a:pt x="0" y="0"/>
                </a:moveTo>
                <a:lnTo>
                  <a:pt x="656268" y="0"/>
                </a:lnTo>
                <a:lnTo>
                  <a:pt x="656268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11320622" y="7499343"/>
            <a:ext cx="6540804" cy="2361309"/>
          </a:xfrm>
          <a:custGeom>
            <a:avLst/>
            <a:gdLst/>
            <a:ahLst/>
            <a:cxnLst/>
            <a:rect r="r" b="b" t="t" l="l"/>
            <a:pathLst>
              <a:path h="2361309" w="6540804">
                <a:moveTo>
                  <a:pt x="0" y="0"/>
                </a:moveTo>
                <a:lnTo>
                  <a:pt x="6540804" y="0"/>
                </a:lnTo>
                <a:lnTo>
                  <a:pt x="6540804" y="2361309"/>
                </a:lnTo>
                <a:lnTo>
                  <a:pt x="0" y="2361309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11528440" y="7925691"/>
            <a:ext cx="1323474" cy="1508614"/>
          </a:xfrm>
          <a:custGeom>
            <a:avLst/>
            <a:gdLst/>
            <a:ahLst/>
            <a:cxnLst/>
            <a:rect r="r" b="b" t="t" l="l"/>
            <a:pathLst>
              <a:path h="1508614" w="1323474">
                <a:moveTo>
                  <a:pt x="0" y="0"/>
                </a:moveTo>
                <a:lnTo>
                  <a:pt x="1323474" y="0"/>
                </a:lnTo>
                <a:lnTo>
                  <a:pt x="1323474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 l="0" t="0" r="0" b="0"/>
            </a:stretch>
          </a:blipFill>
        </p:spPr>
      </p:sp>
      <p:sp>
        <p:nvSpPr>
          <p:cNvPr name="TextBox 44" id="44"/>
          <p:cNvSpPr txBox="true"/>
          <p:nvPr/>
        </p:nvSpPr>
        <p:spPr>
          <a:xfrm rot="0">
            <a:off x="13091489" y="8018951"/>
            <a:ext cx="3515118" cy="350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4"/>
              </a:lnSpc>
            </a:pPr>
            <a:r>
              <a:rPr lang="en-US" sz="2654" spc="-40" b="true">
                <a:solidFill>
                  <a:srgbClr val="268EF3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VERIFY</a:t>
            </a:r>
            <a:r>
              <a:rPr lang="en-US" sz="2654" spc="-40" b="true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 is the safer choice.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3084638" y="8558399"/>
            <a:ext cx="4200233" cy="967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1"/>
              </a:lnSpc>
            </a:pPr>
            <a:r>
              <a:rPr lang="en-US" sz="1986" spc="-30">
                <a:solidFill>
                  <a:srgbClr val="FFFFFF">
                    <a:alpha val="80000"/>
                  </a:srgb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Verifying helps you confirm the sender, protect your personal data, and avoid falling victim to social-engineering attacks.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7313414" y="3599208"/>
            <a:ext cx="3777258" cy="285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88"/>
              </a:lnSpc>
            </a:pPr>
            <a:r>
              <a:rPr lang="en-US" b="true" sz="2188" spc="-33">
                <a:solidFill>
                  <a:srgbClr val="268EF3">
                    <a:alpha val="80000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THREAT </a:t>
            </a:r>
            <a:r>
              <a:rPr lang="en-US" b="true" sz="2188" spc="-33">
                <a:solidFill>
                  <a:srgbClr val="FFFFFF">
                    <a:alpha val="80000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ANALYSIS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6493866" y="6828294"/>
            <a:ext cx="819660" cy="318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7"/>
              </a:lnSpc>
            </a:pPr>
            <a:r>
              <a:rPr lang="en-US" sz="2487" spc="-37" b="true">
                <a:solidFill>
                  <a:srgbClr val="FFFFFF">
                    <a:alpha val="80000"/>
                  </a:srgbClr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Report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4405388" y="6819885"/>
            <a:ext cx="712782" cy="326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2399" spc="-36" b="true">
                <a:solidFill>
                  <a:srgbClr val="FFFFFF">
                    <a:alpha val="80000"/>
                  </a:srgbClr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Verify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2397335" y="6819885"/>
            <a:ext cx="600050" cy="326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2399" spc="-36" b="true">
                <a:solidFill>
                  <a:srgbClr val="FFFFFF">
                    <a:alpha val="80000"/>
                  </a:srgbClr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Click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83877" y="505276"/>
            <a:ext cx="15190422" cy="812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18"/>
              </a:lnSpc>
            </a:pPr>
            <a:r>
              <a:rPr lang="en-US" sz="5348" spc="-107" b="true">
                <a:solidFill>
                  <a:srgbClr val="FFFFFF">
                    <a:alpha val="94902"/>
                  </a:srgbClr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Prototype: Interactive Cybersecurity Awareness Platform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3259464" y="1705390"/>
            <a:ext cx="1968804" cy="229572"/>
          </a:xfrm>
          <a:custGeom>
            <a:avLst/>
            <a:gdLst/>
            <a:ahLst/>
            <a:cxnLst/>
            <a:rect r="r" b="b" t="t" l="l"/>
            <a:pathLst>
              <a:path h="229572" w="1968804">
                <a:moveTo>
                  <a:pt x="0" y="0"/>
                </a:moveTo>
                <a:lnTo>
                  <a:pt x="1968804" y="0"/>
                </a:lnTo>
                <a:lnTo>
                  <a:pt x="1968804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612708" y="1705390"/>
            <a:ext cx="1750048" cy="229572"/>
          </a:xfrm>
          <a:custGeom>
            <a:avLst/>
            <a:gdLst/>
            <a:ahLst/>
            <a:cxnLst/>
            <a:rect r="r" b="b" t="t" l="l"/>
            <a:pathLst>
              <a:path h="229572" w="1750048">
                <a:moveTo>
                  <a:pt x="0" y="0"/>
                </a:moveTo>
                <a:lnTo>
                  <a:pt x="1750048" y="0"/>
                </a:lnTo>
                <a:lnTo>
                  <a:pt x="1750048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965952" y="1705390"/>
            <a:ext cx="1968804" cy="229572"/>
          </a:xfrm>
          <a:custGeom>
            <a:avLst/>
            <a:gdLst/>
            <a:ahLst/>
            <a:cxnLst/>
            <a:rect r="r" b="b" t="t" l="l"/>
            <a:pathLst>
              <a:path h="229572" w="1968804">
                <a:moveTo>
                  <a:pt x="0" y="0"/>
                </a:moveTo>
                <a:lnTo>
                  <a:pt x="1968804" y="0"/>
                </a:lnTo>
                <a:lnTo>
                  <a:pt x="1968804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45330" y="2142670"/>
            <a:ext cx="3062584" cy="5575313"/>
          </a:xfrm>
          <a:custGeom>
            <a:avLst/>
            <a:gdLst/>
            <a:ahLst/>
            <a:cxnLst/>
            <a:rect r="r" b="b" t="t" l="l"/>
            <a:pathLst>
              <a:path h="5575313" w="3062584">
                <a:moveTo>
                  <a:pt x="0" y="0"/>
                </a:moveTo>
                <a:lnTo>
                  <a:pt x="3062584" y="0"/>
                </a:lnTo>
                <a:lnTo>
                  <a:pt x="3062584" y="5575313"/>
                </a:lnTo>
                <a:lnTo>
                  <a:pt x="0" y="557531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64086" y="2569017"/>
            <a:ext cx="448450" cy="437279"/>
          </a:xfrm>
          <a:custGeom>
            <a:avLst/>
            <a:gdLst/>
            <a:ahLst/>
            <a:cxnLst/>
            <a:rect r="r" b="b" t="t" l="l"/>
            <a:pathLst>
              <a:path h="437279" w="448450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821952" y="2569017"/>
            <a:ext cx="448450" cy="437279"/>
          </a:xfrm>
          <a:custGeom>
            <a:avLst/>
            <a:gdLst/>
            <a:ahLst/>
            <a:cxnLst/>
            <a:rect r="r" b="b" t="t" l="l"/>
            <a:pathLst>
              <a:path h="437279" w="448450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01598" y="3214004"/>
            <a:ext cx="1531292" cy="1508614"/>
          </a:xfrm>
          <a:custGeom>
            <a:avLst/>
            <a:gdLst/>
            <a:ahLst/>
            <a:cxnLst/>
            <a:rect r="r" b="b" t="t" l="l"/>
            <a:pathLst>
              <a:path h="1508614" w="1531292">
                <a:moveTo>
                  <a:pt x="0" y="0"/>
                </a:moveTo>
                <a:lnTo>
                  <a:pt x="1531292" y="0"/>
                </a:lnTo>
                <a:lnTo>
                  <a:pt x="1531292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252639" y="4916753"/>
            <a:ext cx="1630953" cy="691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8"/>
              </a:lnSpc>
            </a:pPr>
            <a:r>
              <a:rPr lang="en-US" b="true" sz="2526" spc="-50">
                <a:solidFill>
                  <a:srgbClr val="FFFFFF">
                    <a:alpha val="94902"/>
                  </a:srgbClr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Think Before You Click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43975" y="5772452"/>
            <a:ext cx="2048282" cy="473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2"/>
              </a:lnSpc>
            </a:pPr>
            <a:r>
              <a:rPr lang="en-US" sz="1494" spc="-29">
                <a:solidFill>
                  <a:srgbClr val="FFFFFF">
                    <a:alpha val="84706"/>
                  </a:srgb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Test your ability to recognize digital threats.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864086" y="6428009"/>
            <a:ext cx="2406316" cy="644987"/>
          </a:xfrm>
          <a:custGeom>
            <a:avLst/>
            <a:gdLst/>
            <a:ahLst/>
            <a:cxnLst/>
            <a:rect r="r" b="b" t="t" l="l"/>
            <a:pathLst>
              <a:path h="644987" w="2406316">
                <a:moveTo>
                  <a:pt x="0" y="0"/>
                </a:moveTo>
                <a:lnTo>
                  <a:pt x="2406316" y="0"/>
                </a:lnTo>
                <a:lnTo>
                  <a:pt x="2406316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3696976" y="2142670"/>
            <a:ext cx="5665780" cy="5575313"/>
          </a:xfrm>
          <a:custGeom>
            <a:avLst/>
            <a:gdLst/>
            <a:ahLst/>
            <a:cxnLst/>
            <a:rect r="r" b="b" t="t" l="l"/>
            <a:pathLst>
              <a:path h="5575313" w="5665780">
                <a:moveTo>
                  <a:pt x="0" y="0"/>
                </a:moveTo>
                <a:lnTo>
                  <a:pt x="5665780" y="0"/>
                </a:lnTo>
                <a:lnTo>
                  <a:pt x="5665780" y="5575313"/>
                </a:lnTo>
                <a:lnTo>
                  <a:pt x="0" y="557531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4572000" y="2995365"/>
            <a:ext cx="3926670" cy="1934962"/>
          </a:xfrm>
          <a:custGeom>
            <a:avLst/>
            <a:gdLst/>
            <a:ahLst/>
            <a:cxnLst/>
            <a:rect r="r" b="b" t="t" l="l"/>
            <a:pathLst>
              <a:path h="1934962" w="3926670">
                <a:moveTo>
                  <a:pt x="0" y="0"/>
                </a:moveTo>
                <a:lnTo>
                  <a:pt x="3926670" y="0"/>
                </a:lnTo>
                <a:lnTo>
                  <a:pt x="3926670" y="1934961"/>
                </a:lnTo>
                <a:lnTo>
                  <a:pt x="0" y="193496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4779818" y="3421712"/>
            <a:ext cx="667206" cy="437279"/>
          </a:xfrm>
          <a:custGeom>
            <a:avLst/>
            <a:gdLst/>
            <a:ahLst/>
            <a:cxnLst/>
            <a:rect r="r" b="b" t="t" l="l"/>
            <a:pathLst>
              <a:path h="437279" w="667206">
                <a:moveTo>
                  <a:pt x="0" y="0"/>
                </a:moveTo>
                <a:lnTo>
                  <a:pt x="667206" y="0"/>
                </a:lnTo>
                <a:lnTo>
                  <a:pt x="66720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5393433" y="3633812"/>
            <a:ext cx="1795758" cy="937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2"/>
              </a:lnSpc>
            </a:pPr>
            <a:r>
              <a:rPr lang="en-US" sz="1494" spc="-2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Your college account will be suspended today. Verify your account immediately.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4572000" y="4919394"/>
            <a:ext cx="3926670" cy="1945894"/>
          </a:xfrm>
          <a:custGeom>
            <a:avLst/>
            <a:gdLst/>
            <a:ahLst/>
            <a:cxnLst/>
            <a:rect r="r" b="b" t="t" l="l"/>
            <a:pathLst>
              <a:path h="1945894" w="3926670">
                <a:moveTo>
                  <a:pt x="0" y="0"/>
                </a:moveTo>
                <a:lnTo>
                  <a:pt x="3926670" y="0"/>
                </a:lnTo>
                <a:lnTo>
                  <a:pt x="3926670" y="1945894"/>
                </a:lnTo>
                <a:lnTo>
                  <a:pt x="0" y="194589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4856509" y="5621843"/>
            <a:ext cx="1909992" cy="473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2"/>
              </a:lnSpc>
            </a:pPr>
            <a:r>
              <a:rPr lang="en-US" sz="1494" spc="-2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Verify through the official college website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856149" y="6390040"/>
            <a:ext cx="1946022" cy="257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2"/>
              </a:lnSpc>
            </a:pPr>
            <a:r>
              <a:rPr lang="en-US" sz="1617" spc="-32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Forward the message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8050220" y="4919394"/>
            <a:ext cx="229694" cy="1727254"/>
          </a:xfrm>
          <a:custGeom>
            <a:avLst/>
            <a:gdLst/>
            <a:ahLst/>
            <a:cxnLst/>
            <a:rect r="r" b="b" t="t" l="l"/>
            <a:pathLst>
              <a:path h="1727254" w="229694">
                <a:moveTo>
                  <a:pt x="0" y="0"/>
                </a:moveTo>
                <a:lnTo>
                  <a:pt x="229694" y="0"/>
                </a:lnTo>
                <a:lnTo>
                  <a:pt x="229694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9351818" y="2142670"/>
            <a:ext cx="2843828" cy="5575313"/>
          </a:xfrm>
          <a:custGeom>
            <a:avLst/>
            <a:gdLst/>
            <a:ahLst/>
            <a:cxnLst/>
            <a:rect r="r" b="b" t="t" l="l"/>
            <a:pathLst>
              <a:path h="5575313" w="2843828">
                <a:moveTo>
                  <a:pt x="0" y="0"/>
                </a:moveTo>
                <a:lnTo>
                  <a:pt x="2843828" y="0"/>
                </a:lnTo>
                <a:lnTo>
                  <a:pt x="2843828" y="5575313"/>
                </a:lnTo>
                <a:lnTo>
                  <a:pt x="0" y="5575313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0226842" y="2776725"/>
            <a:ext cx="1104718" cy="1082267"/>
          </a:xfrm>
          <a:custGeom>
            <a:avLst/>
            <a:gdLst/>
            <a:ahLst/>
            <a:cxnLst/>
            <a:rect r="r" b="b" t="t" l="l"/>
            <a:pathLst>
              <a:path h="1082267" w="1104718">
                <a:moveTo>
                  <a:pt x="0" y="0"/>
                </a:moveTo>
                <a:lnTo>
                  <a:pt x="1104718" y="0"/>
                </a:lnTo>
                <a:lnTo>
                  <a:pt x="1104718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9992320" y="3880231"/>
            <a:ext cx="2277070" cy="342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2387" spc="-47" b="true">
                <a:solidFill>
                  <a:srgbClr val="59B865">
                    <a:alpha val="94902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Good Choice!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813419" y="4898923"/>
            <a:ext cx="1816649" cy="937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2"/>
              </a:lnSpc>
            </a:pPr>
            <a:r>
              <a:rPr lang="en-US" sz="1494" spc="-2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Urgency</a:t>
            </a:r>
          </a:p>
          <a:p>
            <a:pPr algn="l">
              <a:lnSpc>
                <a:spcPts val="1942"/>
              </a:lnSpc>
            </a:pPr>
            <a:r>
              <a:rPr lang="en-US" sz="1494" spc="-2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Threatening language</a:t>
            </a:r>
          </a:p>
          <a:p>
            <a:pPr algn="l">
              <a:lnSpc>
                <a:spcPts val="1942"/>
              </a:lnSpc>
            </a:pPr>
            <a:r>
              <a:rPr lang="en-US" sz="1494" spc="-2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Suspicious link</a:t>
            </a:r>
          </a:p>
          <a:p>
            <a:pPr algn="l">
              <a:lnSpc>
                <a:spcPts val="1942"/>
              </a:lnSpc>
            </a:pPr>
            <a:r>
              <a:rPr lang="en-US" sz="1494" spc="-2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Unexpected request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9570574" y="6428009"/>
            <a:ext cx="2406316" cy="863627"/>
          </a:xfrm>
          <a:custGeom>
            <a:avLst/>
            <a:gdLst/>
            <a:ahLst/>
            <a:cxnLst/>
            <a:rect r="r" b="b" t="t" l="l"/>
            <a:pathLst>
              <a:path h="863627" w="2406316">
                <a:moveTo>
                  <a:pt x="0" y="0"/>
                </a:moveTo>
                <a:lnTo>
                  <a:pt x="2406316" y="0"/>
                </a:lnTo>
                <a:lnTo>
                  <a:pt x="2406316" y="863626"/>
                </a:lnTo>
                <a:lnTo>
                  <a:pt x="0" y="863626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9789330" y="6428009"/>
            <a:ext cx="448450" cy="644987"/>
          </a:xfrm>
          <a:custGeom>
            <a:avLst/>
            <a:gdLst/>
            <a:ahLst/>
            <a:cxnLst/>
            <a:rect r="r" b="b" t="t" l="l"/>
            <a:pathLst>
              <a:path h="644987" w="448450">
                <a:moveTo>
                  <a:pt x="0" y="0"/>
                </a:moveTo>
                <a:lnTo>
                  <a:pt x="448450" y="0"/>
                </a:lnTo>
                <a:lnTo>
                  <a:pt x="448450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2184708" y="2142670"/>
            <a:ext cx="5895474" cy="5575313"/>
          </a:xfrm>
          <a:custGeom>
            <a:avLst/>
            <a:gdLst/>
            <a:ahLst/>
            <a:cxnLst/>
            <a:rect r="r" b="b" t="t" l="l"/>
            <a:pathLst>
              <a:path h="5575313" w="5895474">
                <a:moveTo>
                  <a:pt x="0" y="0"/>
                </a:moveTo>
                <a:lnTo>
                  <a:pt x="5895474" y="0"/>
                </a:lnTo>
                <a:lnTo>
                  <a:pt x="5895474" y="5575313"/>
                </a:lnTo>
                <a:lnTo>
                  <a:pt x="0" y="5575313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3050304" y="2873336"/>
            <a:ext cx="2275819" cy="245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1"/>
              </a:lnSpc>
            </a:pPr>
            <a:r>
              <a:rPr lang="en-US" sz="1784" spc="-35" b="true">
                <a:solidFill>
                  <a:srgbClr val="FFFFFF">
                    <a:alpha val="94902"/>
                  </a:srgbClr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Cyber Awareness Score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053061" y="3204070"/>
            <a:ext cx="2000131" cy="800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07"/>
              </a:lnSpc>
            </a:pPr>
            <a:r>
              <a:rPr lang="en-US" sz="5554" spc="-111" b="true">
                <a:solidFill>
                  <a:srgbClr val="59B865">
                    <a:alpha val="94902"/>
                  </a:srgbClr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82</a:t>
            </a:r>
            <a:r>
              <a:rPr lang="en-US" sz="5554" spc="-111">
                <a:solidFill>
                  <a:srgbClr val="FFFFFF">
                    <a:alpha val="94902"/>
                  </a:srgb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/100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15892622" y="2776725"/>
            <a:ext cx="1312536" cy="1519546"/>
          </a:xfrm>
          <a:custGeom>
            <a:avLst/>
            <a:gdLst/>
            <a:ahLst/>
            <a:cxnLst/>
            <a:rect r="r" b="b" t="t" l="l"/>
            <a:pathLst>
              <a:path h="1519546" w="1312536">
                <a:moveTo>
                  <a:pt x="0" y="0"/>
                </a:moveTo>
                <a:lnTo>
                  <a:pt x="1312536" y="0"/>
                </a:lnTo>
                <a:lnTo>
                  <a:pt x="1312536" y="1519546"/>
                </a:lnTo>
                <a:lnTo>
                  <a:pt x="0" y="1519546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13073062" y="4670295"/>
            <a:ext cx="2277070" cy="292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0"/>
              </a:lnSpc>
            </a:pPr>
            <a:r>
              <a:rPr lang="en-US" b="true" sz="2055" spc="-41">
                <a:solidFill>
                  <a:srgbClr val="59B865">
                    <a:alpha val="94902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GOOD AWARENESS</a:t>
            </a:r>
          </a:p>
        </p:txBody>
      </p:sp>
      <p:sp>
        <p:nvSpPr>
          <p:cNvPr name="Freeform 33" id="33"/>
          <p:cNvSpPr/>
          <p:nvPr/>
        </p:nvSpPr>
        <p:spPr>
          <a:xfrm flipH="false" flipV="false" rot="0">
            <a:off x="13059732" y="5138034"/>
            <a:ext cx="2187560" cy="1300906"/>
          </a:xfrm>
          <a:custGeom>
            <a:avLst/>
            <a:gdLst/>
            <a:ahLst/>
            <a:cxnLst/>
            <a:rect r="r" b="b" t="t" l="l"/>
            <a:pathLst>
              <a:path h="1300906" w="2187560">
                <a:moveTo>
                  <a:pt x="0" y="0"/>
                </a:moveTo>
                <a:lnTo>
                  <a:pt x="2187560" y="0"/>
                </a:lnTo>
                <a:lnTo>
                  <a:pt x="2187560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15017598" y="5138034"/>
            <a:ext cx="2406316" cy="1300906"/>
          </a:xfrm>
          <a:custGeom>
            <a:avLst/>
            <a:gdLst/>
            <a:ahLst/>
            <a:cxnLst/>
            <a:rect r="r" b="b" t="t" l="l"/>
            <a:pathLst>
              <a:path h="1300906" w="2406316">
                <a:moveTo>
                  <a:pt x="0" y="0"/>
                </a:moveTo>
                <a:lnTo>
                  <a:pt x="2406316" y="0"/>
                </a:lnTo>
                <a:lnTo>
                  <a:pt x="2406316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12840976" y="6428009"/>
            <a:ext cx="4582938" cy="644987"/>
          </a:xfrm>
          <a:custGeom>
            <a:avLst/>
            <a:gdLst/>
            <a:ahLst/>
            <a:cxnLst/>
            <a:rect r="r" b="b" t="t" l="l"/>
            <a:pathLst>
              <a:path h="644987" w="4582938">
                <a:moveTo>
                  <a:pt x="0" y="0"/>
                </a:moveTo>
                <a:lnTo>
                  <a:pt x="4582938" y="0"/>
                </a:lnTo>
                <a:lnTo>
                  <a:pt x="4582938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645330" y="7925691"/>
            <a:ext cx="15684804" cy="2153601"/>
          </a:xfrm>
          <a:custGeom>
            <a:avLst/>
            <a:gdLst/>
            <a:ahLst/>
            <a:cxnLst/>
            <a:rect r="r" b="b" t="t" l="l"/>
            <a:pathLst>
              <a:path h="2153601" w="15684804">
                <a:moveTo>
                  <a:pt x="0" y="0"/>
                </a:moveTo>
                <a:lnTo>
                  <a:pt x="15684804" y="0"/>
                </a:lnTo>
                <a:lnTo>
                  <a:pt x="15684804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1082842" y="8352038"/>
            <a:ext cx="1312536" cy="1300906"/>
          </a:xfrm>
          <a:custGeom>
            <a:avLst/>
            <a:gdLst/>
            <a:ahLst/>
            <a:cxnLst/>
            <a:rect r="r" b="b" t="t" l="l"/>
            <a:pathLst>
              <a:path h="1300906" w="1312536">
                <a:moveTo>
                  <a:pt x="0" y="0"/>
                </a:moveTo>
                <a:lnTo>
                  <a:pt x="1312536" y="0"/>
                </a:lnTo>
                <a:lnTo>
                  <a:pt x="1312536" y="1300907"/>
                </a:lnTo>
                <a:lnTo>
                  <a:pt x="0" y="1300907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 l="0" t="0" r="0" b="0"/>
            </a:stretch>
          </a:blipFill>
        </p:spPr>
      </p:sp>
      <p:sp>
        <p:nvSpPr>
          <p:cNvPr name="TextBox 38" id="38"/>
          <p:cNvSpPr txBox="true"/>
          <p:nvPr/>
        </p:nvSpPr>
        <p:spPr>
          <a:xfrm rot="0">
            <a:off x="2748692" y="8383594"/>
            <a:ext cx="6415984" cy="1297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1"/>
              </a:lnSpc>
            </a:pPr>
            <a:r>
              <a:rPr lang="en-US" sz="2047" spc="-40">
                <a:solidFill>
                  <a:srgbClr val="FFFFFF">
                    <a:alpha val="84706"/>
                  </a:srgb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The platform transforms cybersecurity awareness from passive learning into interactive decision-making, helping students recognize threats, understand warning signs and make safer digital choices.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450614" y="8443843"/>
            <a:ext cx="5069826" cy="1169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72"/>
              </a:lnSpc>
            </a:pPr>
            <a:r>
              <a:rPr lang="en-US" sz="3671" spc="-73" b="true">
                <a:solidFill>
                  <a:srgbClr val="FFFFFF">
                    <a:alpha val="94902"/>
                  </a:srgbClr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Think Before You Click.</a:t>
            </a:r>
          </a:p>
          <a:p>
            <a:pPr algn="l">
              <a:lnSpc>
                <a:spcPts val="4772"/>
              </a:lnSpc>
            </a:pPr>
            <a:r>
              <a:rPr lang="en-US" sz="3671" spc="-73" b="true">
                <a:solidFill>
                  <a:srgbClr val="1F74F2">
                    <a:alpha val="94902"/>
                  </a:srgbClr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Pause. Verify. Stay Safe.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0193211" y="6564858"/>
            <a:ext cx="1342225" cy="540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2"/>
              </a:lnSpc>
            </a:pPr>
            <a:r>
              <a:rPr lang="en-US" sz="1125" spc="-22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Verify through an official channel before taking action.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670852" y="1710840"/>
            <a:ext cx="2277070" cy="292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0"/>
              </a:lnSpc>
            </a:pPr>
            <a:r>
              <a:rPr lang="en-US" b="true" sz="2055" spc="-41">
                <a:solidFill>
                  <a:srgbClr val="1F74F2">
                    <a:alpha val="94902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FEEDBACK SCREEN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5304234" y="1710840"/>
            <a:ext cx="2277070" cy="292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0"/>
              </a:lnSpc>
            </a:pPr>
            <a:r>
              <a:rPr lang="en-US" b="true" sz="2055" spc="-41">
                <a:solidFill>
                  <a:srgbClr val="1F74F2">
                    <a:alpha val="94902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SCENARIO SCREEN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3659210" y="6610266"/>
            <a:ext cx="3000062" cy="21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36"/>
              </a:lnSpc>
            </a:pPr>
            <a:r>
              <a:rPr lang="en-US" sz="1335" spc="-26">
                <a:solidFill>
                  <a:srgbClr val="FFFFFF">
                    <a:alpha val="74902"/>
                  </a:srgb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From Awareness → To Better Decisions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4144625" y="1681348"/>
            <a:ext cx="2277070" cy="342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b="true" sz="2387" spc="-47">
                <a:solidFill>
                  <a:srgbClr val="1F74F2">
                    <a:alpha val="94902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RESULT SCREEN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178719" y="1681348"/>
            <a:ext cx="2277070" cy="342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b="true" sz="2387" spc="-47">
                <a:solidFill>
                  <a:srgbClr val="1F74F2">
                    <a:alpha val="94902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HOME SCREEN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9732601" y="6103790"/>
            <a:ext cx="1861788" cy="241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2"/>
              </a:lnSpc>
            </a:pPr>
            <a:r>
              <a:rPr lang="en-US" sz="1494" spc="-29">
                <a:solidFill>
                  <a:srgbClr val="1F74F2">
                    <a:alpha val="94902"/>
                  </a:srgb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Recommended Action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3160628" y="5962425"/>
            <a:ext cx="1959063" cy="183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2"/>
              </a:lnSpc>
            </a:pPr>
            <a:r>
              <a:rPr lang="en-US" sz="1125" spc="-22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✔ Suspicious-link awareness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5334143" y="5314774"/>
            <a:ext cx="1598938" cy="21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36"/>
              </a:lnSpc>
            </a:pPr>
            <a:r>
              <a:rPr lang="en-US" sz="1335" spc="-26" b="true">
                <a:solidFill>
                  <a:srgbClr val="D84659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Needs Improvement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403128" y="6691257"/>
            <a:ext cx="1362657" cy="257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2"/>
              </a:lnSpc>
            </a:pPr>
            <a:r>
              <a:rPr lang="en-US" sz="1617" spc="-32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Start Challenge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5333944" y="5676269"/>
            <a:ext cx="1618878" cy="183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2"/>
              </a:lnSpc>
            </a:pPr>
            <a:r>
              <a:rPr lang="en-US" sz="1125" spc="-22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⚠ Impersonation scams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5411391" y="3307919"/>
            <a:ext cx="2277070" cy="342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b="true" sz="2387" spc="-47">
                <a:solidFill>
                  <a:srgbClr val="D84659">
                    <a:alpha val="94902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URGENT: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5333480" y="5962425"/>
            <a:ext cx="1665324" cy="183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2"/>
              </a:lnSpc>
            </a:pPr>
            <a:r>
              <a:rPr lang="en-US" sz="1124" spc="-22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⚠ Fake internship scams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4649343" y="2700040"/>
            <a:ext cx="1195351" cy="241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2"/>
              </a:lnSpc>
            </a:pPr>
            <a:r>
              <a:rPr lang="en-US" sz="1494" spc="-29">
                <a:solidFill>
                  <a:srgbClr val="1F74F2">
                    <a:alpha val="94902"/>
                  </a:srgb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New Message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9739190" y="4507341"/>
            <a:ext cx="1202826" cy="241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2"/>
              </a:lnSpc>
            </a:pPr>
            <a:r>
              <a:rPr lang="en-US" sz="1494" spc="-29">
                <a:solidFill>
                  <a:srgbClr val="1F74F2">
                    <a:alpha val="94902"/>
                  </a:srgb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Warning Signs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3165802" y="5676269"/>
            <a:ext cx="1441670" cy="183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2"/>
              </a:lnSpc>
            </a:pPr>
            <a:r>
              <a:rPr lang="en-US" sz="1125" spc="-22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✔ Phishing detection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4864395" y="5094808"/>
            <a:ext cx="1121445" cy="257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2"/>
              </a:lnSpc>
            </a:pPr>
            <a:r>
              <a:rPr lang="en-US" sz="1617" spc="-32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Click the link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3172722" y="5314774"/>
            <a:ext cx="749682" cy="21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36"/>
              </a:lnSpc>
            </a:pPr>
            <a:r>
              <a:rPr lang="en-US" sz="1335" spc="-26">
                <a:solidFill>
                  <a:srgbClr val="59B865">
                    <a:alpha val="94902"/>
                  </a:srgb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Strengths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3068696" y="4341672"/>
            <a:ext cx="436624" cy="241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2"/>
              </a:lnSpc>
            </a:pPr>
            <a:r>
              <a:rPr lang="en-US" sz="1494" spc="-29">
                <a:solidFill>
                  <a:srgbClr val="1F74F2">
                    <a:alpha val="94902"/>
                  </a:srgb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Level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DAHXZJuaFDY</dc:identifier>
  <dcterms:modified xsi:type="dcterms:W3CDTF">2011-08-01T06:04:30Z</dcterms:modified>
  <cp:revision>1</cp:revision>
  <dc:title>Think Before You Click</dc:title>
</cp:coreProperties>
</file>